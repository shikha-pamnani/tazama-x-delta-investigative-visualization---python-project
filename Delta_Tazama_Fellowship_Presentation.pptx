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66" r:id="rId2"/>
    <p:sldId id="256" r:id="rId3"/>
    <p:sldId id="257" r:id="rId4"/>
    <p:sldId id="258" r:id="rId5"/>
    <p:sldId id="259" r:id="rId6"/>
    <p:sldId id="265" r:id="rId7"/>
    <p:sldId id="261" r:id="rId8"/>
    <p:sldId id="264" r:id="rId9"/>
    <p:sldId id="262"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908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2130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I'm Shikha Pamnani, BI Strategy Lead for the Tazama Rule Trigger Discovery project — my final delivery for the Delta Analytics Fellowship.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8942551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I'm Shikha Pamnani, BI Strategy Lead for the Tazama Rule Trigger Discovery project — my final delivery for the Delta Analytics Fellowship.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Tazama is the first free open-source real-time transaction monitoring platform — built specifically for emerging markets where fraud runs rampant and expensive enterprise tools are inaccessible. Managed by the Linux Foundation, funded by the Bill and Melinda Gates Foundation, and already deployed across South African markets.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was clear — Tazama is a world-class detection engine but investigators had no window into why an alert fired. Which rules? What data? Which band? None of that was visible.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two tools in one notebook. The Alert Navigator gives investigators a searchable, filterable view of all alerts. The Rule Trigger Discovery replays the rule query and shows exactly what the rule engine found.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two tools in one notebook. The Alert Navigator gives investigators a searchable, filterable view of all alerts. The Rule Trigger Discovery replays the rule query and shows exactly what the rule engine found.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2777977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impact is on two levels. For investigators — structured evidence-based triage instead of blind review. For the broader mission — Tazama is open source, free, and already deployed across South African markets.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journey wasn't linear. Two DLH migrations mid-project, synthetic data challenges, evolving architecture decisions — each challenge made the final product more robust. This fellowship has been one of the most meaningful technical experiences of my career.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G"/><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0"/>
            <a:ext cx="320040" cy="5143500"/>
          </a:xfrm>
          <a:prstGeom prst="rect">
            <a:avLst/>
          </a:prstGeom>
          <a:solidFill>
            <a:srgbClr val="006D6F"/>
          </a:solidFill>
          <a:ln w="12700">
            <a:solidFill>
              <a:srgbClr val="006D6F"/>
            </a:solidFill>
            <a:prstDash val="solid"/>
          </a:ln>
        </p:spPr>
      </p:sp>
      <p:sp>
        <p:nvSpPr>
          <p:cNvPr id="4" name="Text 2"/>
          <p:cNvSpPr/>
          <p:nvPr/>
        </p:nvSpPr>
        <p:spPr>
          <a:xfrm>
            <a:off x="502920" y="256032"/>
            <a:ext cx="5486400" cy="256032"/>
          </a:xfrm>
          <a:prstGeom prst="rect">
            <a:avLst/>
          </a:prstGeom>
          <a:noFill/>
          <a:ln/>
        </p:spPr>
        <p:txBody>
          <a:bodyPr wrap="square" rtlCol="0" anchor="ctr"/>
          <a:lstStyle/>
          <a:p>
            <a:pPr marL="0" indent="0">
              <a:buNone/>
            </a:pPr>
            <a:r>
              <a:rPr lang="en-US" sz="1400" b="1" kern="0" spc="200" dirty="0">
                <a:solidFill>
                  <a:srgbClr val="006D6F"/>
                </a:solidFill>
                <a:latin typeface="Calibri" pitchFamily="34" charset="0"/>
                <a:ea typeface="Calibri" pitchFamily="34" charset="-122"/>
                <a:cs typeface="Calibri" pitchFamily="34" charset="-120"/>
              </a:rPr>
              <a:t>DELTA ANALYTICS FELLOWSHIP  ·  2026</a:t>
            </a:r>
            <a:endParaRPr lang="en-US" sz="1400" dirty="0"/>
          </a:p>
        </p:txBody>
      </p:sp>
      <p:sp>
        <p:nvSpPr>
          <p:cNvPr id="10" name="TextBox 9">
            <a:extLst>
              <a:ext uri="{FF2B5EF4-FFF2-40B4-BE49-F238E27FC236}">
                <a16:creationId xmlns:a16="http://schemas.microsoft.com/office/drawing/2014/main" id="{40BFAD28-DDEC-FA76-24FF-04D5132771CF}"/>
              </a:ext>
            </a:extLst>
          </p:cNvPr>
          <p:cNvSpPr txBox="1"/>
          <p:nvPr/>
        </p:nvSpPr>
        <p:spPr>
          <a:xfrm>
            <a:off x="542226" y="683002"/>
            <a:ext cx="1653540" cy="4832092"/>
          </a:xfrm>
          <a:prstGeom prst="rect">
            <a:avLst/>
          </a:prstGeom>
          <a:noFill/>
        </p:spPr>
        <p:txBody>
          <a:bodyPr wrap="square">
            <a:spAutoFit/>
          </a:bodyPr>
          <a:lstStyle/>
          <a:p>
            <a:pPr rtl="0">
              <a:spcBef>
                <a:spcPts val="0"/>
              </a:spcBef>
              <a:spcAft>
                <a:spcPts val="1200"/>
              </a:spcAft>
            </a:pPr>
            <a:r>
              <a:rPr lang="en-US" sz="1100" b="1" i="0" u="none" strike="noStrike" dirty="0">
                <a:solidFill>
                  <a:srgbClr val="595959"/>
                </a:solidFill>
                <a:effectLst/>
              </a:rPr>
              <a:t>Shikha Pamnani, </a:t>
            </a:r>
            <a:r>
              <a:rPr lang="en-US" sz="1100" i="0" u="none" strike="noStrike" dirty="0">
                <a:solidFill>
                  <a:srgbClr val="595959"/>
                </a:solidFill>
                <a:effectLst/>
              </a:rPr>
              <a:t>Business Intelligence Lead, County of Santa Clara &amp; Project Owner- Delta Fellowship</a:t>
            </a:r>
            <a:endParaRPr lang="en-US" sz="1100" dirty="0">
              <a:effectLst/>
            </a:endParaRPr>
          </a:p>
          <a:p>
            <a:pPr rtl="0">
              <a:spcBef>
                <a:spcPts val="0"/>
              </a:spcBef>
              <a:spcAft>
                <a:spcPts val="1200"/>
              </a:spcAft>
            </a:pPr>
            <a:br>
              <a:rPr lang="en-US" sz="1100" b="0" dirty="0">
                <a:effectLst/>
              </a:rPr>
            </a:br>
            <a:br>
              <a:rPr lang="en-US" sz="1100" b="0" dirty="0">
                <a:effectLst/>
              </a:rPr>
            </a:br>
            <a:br>
              <a:rPr lang="en-US" sz="1100" b="0" dirty="0">
                <a:effectLst/>
              </a:rPr>
            </a:br>
            <a:endParaRPr lang="en-US" sz="1100" b="0" dirty="0">
              <a:effectLst/>
            </a:endParaRPr>
          </a:p>
          <a:p>
            <a:pPr rtl="0">
              <a:spcBef>
                <a:spcPts val="0"/>
              </a:spcBef>
              <a:spcAft>
                <a:spcPts val="1200"/>
              </a:spcAft>
            </a:pPr>
            <a:br>
              <a:rPr lang="en-US" sz="1100" b="0" dirty="0">
                <a:effectLst/>
              </a:rPr>
            </a:br>
            <a:endParaRPr lang="en-US" sz="1100" b="0" dirty="0">
              <a:effectLst/>
            </a:endParaRPr>
          </a:p>
          <a:p>
            <a:pPr rtl="0">
              <a:spcBef>
                <a:spcPts val="0"/>
              </a:spcBef>
              <a:spcAft>
                <a:spcPts val="1200"/>
              </a:spcAft>
            </a:pPr>
            <a:endParaRPr lang="en-US" sz="1100" i="0" u="none" strike="noStrike" dirty="0">
              <a:solidFill>
                <a:srgbClr val="595959"/>
              </a:solidFill>
            </a:endParaRPr>
          </a:p>
          <a:p>
            <a:pPr rtl="0">
              <a:spcBef>
                <a:spcPts val="0"/>
              </a:spcBef>
              <a:spcAft>
                <a:spcPts val="1200"/>
              </a:spcAft>
            </a:pPr>
            <a:r>
              <a:rPr lang="en-US" sz="1200" b="1" i="0" u="none" strike="noStrike" dirty="0">
                <a:solidFill>
                  <a:srgbClr val="595959"/>
                </a:solidFill>
                <a:effectLst/>
              </a:rPr>
              <a:t>Emily Ward </a:t>
            </a:r>
            <a:r>
              <a:rPr lang="en-US" sz="1200" b="0" i="1" u="none" strike="noStrike" dirty="0">
                <a:solidFill>
                  <a:srgbClr val="595959"/>
                </a:solidFill>
                <a:effectLst/>
              </a:rPr>
              <a:t>Economic Researcher, Economic Partners, Data Fellow</a:t>
            </a:r>
          </a:p>
          <a:p>
            <a:pPr rtl="0">
              <a:spcBef>
                <a:spcPts val="0"/>
              </a:spcBef>
              <a:spcAft>
                <a:spcPts val="1200"/>
              </a:spcAft>
            </a:pPr>
            <a:endParaRPr lang="en-US" sz="1100" i="1" dirty="0">
              <a:solidFill>
                <a:srgbClr val="595959"/>
              </a:solidFill>
            </a:endParaRPr>
          </a:p>
          <a:p>
            <a:pPr rtl="0">
              <a:spcBef>
                <a:spcPts val="0"/>
              </a:spcBef>
              <a:spcAft>
                <a:spcPts val="1200"/>
              </a:spcAft>
            </a:pPr>
            <a:endParaRPr lang="en-US" sz="1100" b="0" dirty="0">
              <a:effectLst/>
            </a:endParaRPr>
          </a:p>
          <a:p>
            <a:pPr rtl="0">
              <a:spcBef>
                <a:spcPts val="0"/>
              </a:spcBef>
              <a:spcAft>
                <a:spcPts val="1200"/>
              </a:spcAft>
            </a:pPr>
            <a:br>
              <a:rPr lang="en-US" sz="1100" b="0" dirty="0">
                <a:effectLst/>
              </a:rPr>
            </a:br>
            <a:br>
              <a:rPr lang="en-US" dirty="0"/>
            </a:br>
            <a:endParaRPr lang="en-US" dirty="0"/>
          </a:p>
        </p:txBody>
      </p:sp>
      <p:pic>
        <p:nvPicPr>
          <p:cNvPr id="1026" name="Picture 2">
            <a:extLst>
              <a:ext uri="{FF2B5EF4-FFF2-40B4-BE49-F238E27FC236}">
                <a16:creationId xmlns:a16="http://schemas.microsoft.com/office/drawing/2014/main" id="{82D4345D-1AC5-AC2E-BF6B-E8686B5F21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3200" y="3099048"/>
            <a:ext cx="1430149" cy="1906865"/>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36CF5925-19F4-1AE3-7968-381F1CD889B8}"/>
              </a:ext>
            </a:extLst>
          </p:cNvPr>
          <p:cNvSpPr txBox="1"/>
          <p:nvPr/>
        </p:nvSpPr>
        <p:spPr>
          <a:xfrm>
            <a:off x="4729036" y="683002"/>
            <a:ext cx="1958340" cy="4278094"/>
          </a:xfrm>
          <a:prstGeom prst="rect">
            <a:avLst/>
          </a:prstGeom>
          <a:noFill/>
        </p:spPr>
        <p:txBody>
          <a:bodyPr wrap="square">
            <a:spAutoFit/>
          </a:bodyPr>
          <a:lstStyle/>
          <a:p>
            <a:pPr rtl="0">
              <a:spcBef>
                <a:spcPts val="0"/>
              </a:spcBef>
              <a:spcAft>
                <a:spcPts val="1200"/>
              </a:spcAft>
            </a:pPr>
            <a:br>
              <a:rPr lang="en-US" sz="1400" b="0" dirty="0">
                <a:effectLst/>
              </a:rPr>
            </a:br>
            <a:r>
              <a:rPr lang="en-US" sz="1200" b="1" i="0" u="none" strike="noStrike" dirty="0">
                <a:solidFill>
                  <a:srgbClr val="595959"/>
                </a:solidFill>
                <a:effectLst/>
              </a:rPr>
              <a:t>Rajesh </a:t>
            </a:r>
            <a:r>
              <a:rPr lang="en-US" sz="1200" b="1" i="0" u="none" strike="noStrike" dirty="0" err="1">
                <a:solidFill>
                  <a:srgbClr val="595959"/>
                </a:solidFill>
                <a:effectLst/>
              </a:rPr>
              <a:t>Vayyala</a:t>
            </a:r>
            <a:r>
              <a:rPr lang="en-US" sz="1200" b="1" i="0" u="none" strike="noStrike" dirty="0">
                <a:solidFill>
                  <a:srgbClr val="595959"/>
                </a:solidFill>
                <a:effectLst/>
              </a:rPr>
              <a:t> </a:t>
            </a:r>
            <a:r>
              <a:rPr lang="en-US" sz="1200" b="0" i="1" u="none" strike="noStrike" dirty="0">
                <a:solidFill>
                  <a:srgbClr val="595959"/>
                </a:solidFill>
                <a:effectLst/>
              </a:rPr>
              <a:t>Principal Data Architect, PRA Group </a:t>
            </a:r>
            <a:r>
              <a:rPr lang="en-US" sz="1200" b="0" i="1" u="none" strike="noStrike" dirty="0" err="1">
                <a:solidFill>
                  <a:srgbClr val="595959"/>
                </a:solidFill>
                <a:effectLst/>
              </a:rPr>
              <a:t>Inc.,Data</a:t>
            </a:r>
            <a:r>
              <a:rPr lang="en-US" sz="1200" b="0" i="1" u="none" strike="noStrike" dirty="0">
                <a:solidFill>
                  <a:srgbClr val="595959"/>
                </a:solidFill>
                <a:effectLst/>
              </a:rPr>
              <a:t> Fellow</a:t>
            </a:r>
            <a:endParaRPr lang="en-US" sz="1200" b="0" dirty="0">
              <a:effectLst/>
            </a:endParaRPr>
          </a:p>
          <a:p>
            <a:pPr rtl="0">
              <a:spcBef>
                <a:spcPts val="0"/>
              </a:spcBef>
              <a:spcAft>
                <a:spcPts val="1200"/>
              </a:spcAft>
            </a:pPr>
            <a:br>
              <a:rPr lang="en-US" sz="1600" b="0" dirty="0">
                <a:effectLst/>
              </a:rPr>
            </a:br>
            <a:endParaRPr lang="en-US" sz="1600" b="0" dirty="0">
              <a:effectLst/>
            </a:endParaRPr>
          </a:p>
          <a:p>
            <a:pPr rtl="0">
              <a:spcBef>
                <a:spcPts val="0"/>
              </a:spcBef>
              <a:spcAft>
                <a:spcPts val="1200"/>
              </a:spcAft>
            </a:pPr>
            <a:endParaRPr lang="en-US" sz="1400" b="0" dirty="0">
              <a:effectLst/>
            </a:endParaRPr>
          </a:p>
          <a:p>
            <a:pPr rtl="0">
              <a:spcBef>
                <a:spcPts val="0"/>
              </a:spcBef>
              <a:spcAft>
                <a:spcPts val="1200"/>
              </a:spcAft>
            </a:pPr>
            <a:endParaRPr lang="en-US" sz="1400" dirty="0">
              <a:solidFill>
                <a:srgbClr val="595959"/>
              </a:solidFill>
            </a:endParaRPr>
          </a:p>
          <a:p>
            <a:pPr rtl="0">
              <a:spcBef>
                <a:spcPts val="0"/>
              </a:spcBef>
              <a:spcAft>
                <a:spcPts val="1200"/>
              </a:spcAft>
            </a:pPr>
            <a:endParaRPr lang="en-US" sz="1200" b="1" dirty="0">
              <a:solidFill>
                <a:srgbClr val="595959"/>
              </a:solidFill>
            </a:endParaRPr>
          </a:p>
          <a:p>
            <a:pPr rtl="0">
              <a:spcBef>
                <a:spcPts val="0"/>
              </a:spcBef>
              <a:spcAft>
                <a:spcPts val="1200"/>
              </a:spcAft>
            </a:pPr>
            <a:r>
              <a:rPr lang="en-US" sz="1200" b="1" i="0" u="none" strike="noStrike" dirty="0" err="1">
                <a:solidFill>
                  <a:srgbClr val="595959"/>
                </a:solidFill>
                <a:effectLst/>
              </a:rPr>
              <a:t>Husandeep</a:t>
            </a:r>
            <a:r>
              <a:rPr lang="en-US" sz="1200" b="1" i="0" u="none" strike="noStrike" dirty="0">
                <a:solidFill>
                  <a:srgbClr val="595959"/>
                </a:solidFill>
                <a:effectLst/>
              </a:rPr>
              <a:t> Toor </a:t>
            </a:r>
            <a:r>
              <a:rPr lang="en-US" sz="1200" b="0" i="1" u="none" strike="noStrike" dirty="0">
                <a:solidFill>
                  <a:srgbClr val="595959"/>
                </a:solidFill>
                <a:effectLst/>
              </a:rPr>
              <a:t>Financial Analyst, UC </a:t>
            </a:r>
            <a:r>
              <a:rPr lang="en-US" sz="1200" b="0" i="1" u="none" strike="noStrike">
                <a:solidFill>
                  <a:srgbClr val="595959"/>
                </a:solidFill>
                <a:effectLst/>
              </a:rPr>
              <a:t>Davis Health, Data Fellow</a:t>
            </a:r>
            <a:endParaRPr lang="en-US" sz="1200" b="0" dirty="0">
              <a:effectLst/>
            </a:endParaRPr>
          </a:p>
          <a:p>
            <a:endParaRPr lang="en-US" dirty="0"/>
          </a:p>
          <a:p>
            <a:br>
              <a:rPr lang="en-US" dirty="0"/>
            </a:br>
            <a:endParaRPr lang="en-US" dirty="0"/>
          </a:p>
        </p:txBody>
      </p:sp>
      <p:pic>
        <p:nvPicPr>
          <p:cNvPr id="1028" name="Picture 4">
            <a:extLst>
              <a:ext uri="{FF2B5EF4-FFF2-40B4-BE49-F238E27FC236}">
                <a16:creationId xmlns:a16="http://schemas.microsoft.com/office/drawing/2014/main" id="{3A557558-B0A0-B858-E908-6ECAE58795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50645" y="955786"/>
            <a:ext cx="1430149" cy="174169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9EF61DE6-A01A-1AEA-1EE1-E97423A6032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09562" y="3421193"/>
            <a:ext cx="1430149" cy="155653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512C1509-477C-A53C-2556-6C804F7D647C}"/>
              </a:ext>
            </a:extLst>
          </p:cNvPr>
          <p:cNvPicPr>
            <a:picLocks noChangeAspect="1"/>
          </p:cNvPicPr>
          <p:nvPr/>
        </p:nvPicPr>
        <p:blipFill>
          <a:blip r:embed="rId6"/>
          <a:stretch>
            <a:fillRect/>
          </a:stretch>
        </p:blipFill>
        <p:spPr>
          <a:xfrm>
            <a:off x="2524789" y="854500"/>
            <a:ext cx="1346172" cy="1717249"/>
          </a:xfrm>
          <a:prstGeom prst="rect">
            <a:avLst/>
          </a:prstGeom>
        </p:spPr>
      </p:pic>
    </p:spTree>
    <p:extLst>
      <p:ext uri="{BB962C8B-B14F-4D97-AF65-F5344CB8AC3E}">
        <p14:creationId xmlns:p14="http://schemas.microsoft.com/office/powerpoint/2010/main" val="34605611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217920" y="457200"/>
            <a:ext cx="3200400" cy="4114800"/>
          </a:xfrm>
          <a:prstGeom prst="rect">
            <a:avLst/>
          </a:prstGeom>
          <a:noFill/>
          <a:ln/>
        </p:spPr>
        <p:txBody>
          <a:bodyPr wrap="square" rtlCol="0" anchor="ctr"/>
          <a:lstStyle/>
          <a:p>
            <a:pPr marL="0" indent="0" algn="ctr">
              <a:buNone/>
            </a:pPr>
            <a:r>
              <a:rPr lang="en-US" sz="20000" b="1" dirty="0">
                <a:solidFill>
                  <a:srgbClr val="D0EAEB"/>
                </a:solidFill>
                <a:latin typeface="Calibri" pitchFamily="34" charset="0"/>
                <a:ea typeface="Calibri" pitchFamily="34" charset="-122"/>
                <a:cs typeface="Calibri" pitchFamily="34" charset="-120"/>
              </a:rPr>
              <a:t>01</a:t>
            </a:r>
            <a:endParaRPr lang="en-US" sz="20000" dirty="0"/>
          </a:p>
        </p:txBody>
      </p:sp>
      <p:sp>
        <p:nvSpPr>
          <p:cNvPr id="3" name="Shape 1"/>
          <p:cNvSpPr/>
          <p:nvPr/>
        </p:nvSpPr>
        <p:spPr>
          <a:xfrm>
            <a:off x="0" y="0"/>
            <a:ext cx="320040" cy="5143500"/>
          </a:xfrm>
          <a:prstGeom prst="rect">
            <a:avLst/>
          </a:prstGeom>
          <a:solidFill>
            <a:srgbClr val="006D6F"/>
          </a:solidFill>
          <a:ln w="12700">
            <a:solidFill>
              <a:srgbClr val="006D6F"/>
            </a:solidFill>
            <a:prstDash val="solid"/>
          </a:ln>
        </p:spPr>
      </p:sp>
      <p:sp>
        <p:nvSpPr>
          <p:cNvPr id="4" name="Text 2"/>
          <p:cNvSpPr/>
          <p:nvPr/>
        </p:nvSpPr>
        <p:spPr>
          <a:xfrm>
            <a:off x="502920" y="384048"/>
            <a:ext cx="5486400" cy="256032"/>
          </a:xfrm>
          <a:prstGeom prst="rect">
            <a:avLst/>
          </a:prstGeom>
          <a:noFill/>
          <a:ln/>
        </p:spPr>
        <p:txBody>
          <a:bodyPr wrap="square" rtlCol="0" anchor="ctr"/>
          <a:lstStyle/>
          <a:p>
            <a:pPr marL="0" indent="0">
              <a:buNone/>
            </a:pPr>
            <a:r>
              <a:rPr lang="en-US" sz="1400" b="1" kern="0" spc="200" dirty="0">
                <a:solidFill>
                  <a:srgbClr val="006D6F"/>
                </a:solidFill>
                <a:latin typeface="Calibri" pitchFamily="34" charset="0"/>
                <a:ea typeface="Calibri" pitchFamily="34" charset="-122"/>
                <a:cs typeface="Calibri" pitchFamily="34" charset="-120"/>
              </a:rPr>
              <a:t>DELTA ANALYTICS FELLOWSHIP  ·  2026</a:t>
            </a:r>
            <a:endParaRPr lang="en-US" sz="1400" dirty="0"/>
          </a:p>
        </p:txBody>
      </p:sp>
      <p:sp>
        <p:nvSpPr>
          <p:cNvPr id="5" name="Text 3"/>
          <p:cNvSpPr/>
          <p:nvPr/>
        </p:nvSpPr>
        <p:spPr>
          <a:xfrm>
            <a:off x="457200" y="667512"/>
            <a:ext cx="6583680" cy="1691640"/>
          </a:xfrm>
          <a:prstGeom prst="rect">
            <a:avLst/>
          </a:prstGeom>
          <a:noFill/>
          <a:ln/>
        </p:spPr>
        <p:txBody>
          <a:bodyPr wrap="square" rtlCol="0" anchor="ctr"/>
          <a:lstStyle/>
          <a:p>
            <a:pPr marL="0" indent="0">
              <a:lnSpc>
                <a:spcPct val="105000"/>
              </a:lnSpc>
              <a:buNone/>
            </a:pPr>
            <a:r>
              <a:rPr lang="en-US" sz="3800" b="1" dirty="0">
                <a:solidFill>
                  <a:srgbClr val="1C2B3A"/>
                </a:solidFill>
                <a:latin typeface="Calibri" pitchFamily="34" charset="0"/>
                <a:ea typeface="Calibri" pitchFamily="34" charset="-122"/>
                <a:cs typeface="Calibri" pitchFamily="34" charset="-120"/>
              </a:rPr>
              <a:t>Tazama Alert Navigator &amp;</a:t>
            </a:r>
            <a:endParaRPr lang="en-US" sz="3800" dirty="0"/>
          </a:p>
          <a:p>
            <a:pPr marL="0" indent="0">
              <a:lnSpc>
                <a:spcPct val="105000"/>
              </a:lnSpc>
              <a:buNone/>
            </a:pPr>
            <a:r>
              <a:rPr lang="en-US" sz="3800" b="1" dirty="0">
                <a:solidFill>
                  <a:srgbClr val="1C2B3A"/>
                </a:solidFill>
                <a:latin typeface="Calibri" pitchFamily="34" charset="0"/>
                <a:ea typeface="Calibri" pitchFamily="34" charset="-122"/>
                <a:cs typeface="Calibri" pitchFamily="34" charset="-120"/>
              </a:rPr>
              <a:t>Rule Trigger Discovery</a:t>
            </a:r>
            <a:endParaRPr lang="en-US" sz="3800" dirty="0"/>
          </a:p>
        </p:txBody>
      </p:sp>
      <p:sp>
        <p:nvSpPr>
          <p:cNvPr id="6" name="Text 4"/>
          <p:cNvSpPr/>
          <p:nvPr/>
        </p:nvSpPr>
        <p:spPr>
          <a:xfrm>
            <a:off x="502920" y="2120798"/>
            <a:ext cx="6400800" cy="377343"/>
          </a:xfrm>
          <a:prstGeom prst="rect">
            <a:avLst/>
          </a:prstGeom>
          <a:noFill/>
          <a:ln/>
        </p:spPr>
        <p:txBody>
          <a:bodyPr wrap="square" rtlCol="0" anchor="ctr"/>
          <a:lstStyle/>
          <a:p>
            <a:pPr marL="0" indent="0">
              <a:buNone/>
            </a:pPr>
            <a:endParaRPr lang="en-US" sz="1500" i="1" dirty="0">
              <a:solidFill>
                <a:srgbClr val="4A6272"/>
              </a:solidFill>
              <a:latin typeface="Calibri" pitchFamily="34" charset="0"/>
              <a:ea typeface="Calibri" pitchFamily="34" charset="-122"/>
              <a:cs typeface="Calibri" pitchFamily="34" charset="-120"/>
            </a:endParaRPr>
          </a:p>
          <a:p>
            <a:pPr marL="0" indent="0">
              <a:buNone/>
            </a:pPr>
            <a:endParaRPr lang="en-US" sz="1500" i="1" dirty="0">
              <a:solidFill>
                <a:srgbClr val="4A6272"/>
              </a:solidFill>
              <a:latin typeface="Calibri" pitchFamily="34" charset="0"/>
              <a:ea typeface="Calibri" pitchFamily="34" charset="-122"/>
              <a:cs typeface="Calibri" pitchFamily="34" charset="-120"/>
            </a:endParaRPr>
          </a:p>
          <a:p>
            <a:pPr marL="0" indent="0">
              <a:buNone/>
            </a:pPr>
            <a:r>
              <a:rPr lang="en-US" sz="1500" i="1" dirty="0">
                <a:solidFill>
                  <a:srgbClr val="4A6272"/>
                </a:solidFill>
                <a:latin typeface="Calibri" pitchFamily="34" charset="0"/>
                <a:ea typeface="Calibri" pitchFamily="34" charset="-122"/>
                <a:cs typeface="Calibri" pitchFamily="34" charset="-120"/>
              </a:rPr>
              <a:t>Allowing investigators to decode the fraud alerts with ease reducing investigation time by eliminating manual transaction history search</a:t>
            </a:r>
            <a:endParaRPr lang="en-US" sz="1500" dirty="0"/>
          </a:p>
        </p:txBody>
      </p:sp>
      <p:sp>
        <p:nvSpPr>
          <p:cNvPr id="7" name="Shape 5"/>
          <p:cNvSpPr/>
          <p:nvPr/>
        </p:nvSpPr>
        <p:spPr>
          <a:xfrm>
            <a:off x="548640" y="3104388"/>
            <a:ext cx="2286000" cy="16459"/>
          </a:xfrm>
          <a:prstGeom prst="rect">
            <a:avLst/>
          </a:prstGeom>
          <a:solidFill>
            <a:srgbClr val="D8E4E8"/>
          </a:solidFill>
          <a:ln w="12700">
            <a:solidFill>
              <a:srgbClr val="D8E4E8"/>
            </a:solidFill>
            <a:prstDash val="solid"/>
          </a:ln>
        </p:spPr>
      </p:sp>
      <p:sp>
        <p:nvSpPr>
          <p:cNvPr id="9" name="Text 7"/>
          <p:cNvSpPr/>
          <p:nvPr/>
        </p:nvSpPr>
        <p:spPr>
          <a:xfrm>
            <a:off x="502920" y="3306470"/>
            <a:ext cx="6400800" cy="228600"/>
          </a:xfrm>
          <a:prstGeom prst="rect">
            <a:avLst/>
          </a:prstGeom>
          <a:noFill/>
          <a:ln/>
        </p:spPr>
        <p:txBody>
          <a:bodyPr wrap="square" rtlCol="0" anchor="ctr"/>
          <a:lstStyle/>
          <a:p>
            <a:pPr marL="0" indent="0">
              <a:buNone/>
            </a:pPr>
            <a:r>
              <a:rPr lang="en-US" sz="1400" dirty="0">
                <a:solidFill>
                  <a:srgbClr val="8A9BAB"/>
                </a:solidFill>
                <a:latin typeface="Calibri" pitchFamily="34" charset="0"/>
                <a:ea typeface="Calibri" pitchFamily="34" charset="-122"/>
                <a:cs typeface="Calibri" pitchFamily="34" charset="-120"/>
              </a:rPr>
              <a:t>Gates Foundation  ·  Linux Foundation Project   </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0" y="274320"/>
            <a:ext cx="3474720" cy="4389120"/>
          </a:xfrm>
          <a:prstGeom prst="rect">
            <a:avLst/>
          </a:prstGeom>
          <a:noFill/>
          <a:ln/>
        </p:spPr>
        <p:txBody>
          <a:bodyPr wrap="square" rtlCol="0" anchor="ctr"/>
          <a:lstStyle/>
          <a:p>
            <a:pPr marL="0" indent="0" algn="ctr">
              <a:buNone/>
            </a:pPr>
            <a:r>
              <a:rPr lang="en-US" sz="20000" b="1" dirty="0">
                <a:solidFill>
                  <a:srgbClr val="D0EAEB"/>
                </a:solidFill>
                <a:latin typeface="Calibri" pitchFamily="34" charset="0"/>
                <a:ea typeface="Calibri" pitchFamily="34" charset="-122"/>
                <a:cs typeface="Calibri" pitchFamily="34" charset="-120"/>
              </a:rPr>
              <a:t>02</a:t>
            </a:r>
            <a:endParaRPr lang="en-US" sz="20000" dirty="0"/>
          </a:p>
        </p:txBody>
      </p:sp>
      <p:sp>
        <p:nvSpPr>
          <p:cNvPr id="3" name="Shape 1"/>
          <p:cNvSpPr/>
          <p:nvPr/>
        </p:nvSpPr>
        <p:spPr>
          <a:xfrm>
            <a:off x="0" y="0"/>
            <a:ext cx="320040" cy="5143500"/>
          </a:xfrm>
          <a:prstGeom prst="rect">
            <a:avLst/>
          </a:prstGeom>
          <a:solidFill>
            <a:srgbClr val="006D6F"/>
          </a:solidFill>
          <a:ln w="12700">
            <a:solidFill>
              <a:srgbClr val="006D6F"/>
            </a:solidFill>
            <a:prstDash val="solid"/>
          </a:ln>
        </p:spPr>
      </p:sp>
      <p:sp>
        <p:nvSpPr>
          <p:cNvPr id="5" name="Text 3"/>
          <p:cNvSpPr/>
          <p:nvPr/>
        </p:nvSpPr>
        <p:spPr>
          <a:xfrm>
            <a:off x="429768" y="514350"/>
            <a:ext cx="8138160" cy="589788"/>
          </a:xfrm>
          <a:prstGeom prst="rect">
            <a:avLst/>
          </a:prstGeom>
          <a:noFill/>
          <a:ln/>
        </p:spPr>
        <p:txBody>
          <a:bodyPr wrap="square" rtlCol="0" anchor="ctr"/>
          <a:lstStyle/>
          <a:p>
            <a:pPr marL="0" indent="0">
              <a:buNone/>
            </a:pPr>
            <a:r>
              <a:rPr lang="en-US" sz="1400" b="1" dirty="0">
                <a:solidFill>
                  <a:srgbClr val="1C2B3A"/>
                </a:solidFill>
                <a:ea typeface="Calibri" pitchFamily="34" charset="-122"/>
                <a:cs typeface="Calibri" pitchFamily="34" charset="-120"/>
              </a:rPr>
              <a:t>It is a free, open-source real-time</a:t>
            </a:r>
            <a:r>
              <a:rPr lang="en-US" sz="1400" dirty="0"/>
              <a:t> </a:t>
            </a:r>
            <a:r>
              <a:rPr lang="en-US" sz="1400" b="1" dirty="0">
                <a:solidFill>
                  <a:srgbClr val="1C2B3A"/>
                </a:solidFill>
                <a:ea typeface="Calibri" pitchFamily="34" charset="-122"/>
                <a:cs typeface="Calibri" pitchFamily="34" charset="-120"/>
              </a:rPr>
              <a:t>fraud detection platform fixing a critical TRUST gap in Digital Finance in Emerging Markets. </a:t>
            </a:r>
            <a:endParaRPr lang="en-US" sz="1400" dirty="0"/>
          </a:p>
        </p:txBody>
      </p:sp>
      <p:grpSp>
        <p:nvGrpSpPr>
          <p:cNvPr id="27" name="Group 26">
            <a:extLst>
              <a:ext uri="{FF2B5EF4-FFF2-40B4-BE49-F238E27FC236}">
                <a16:creationId xmlns:a16="http://schemas.microsoft.com/office/drawing/2014/main" id="{22D14AEF-E9F8-7AFB-B967-38F1ABB3728B}"/>
              </a:ext>
            </a:extLst>
          </p:cNvPr>
          <p:cNvGrpSpPr/>
          <p:nvPr/>
        </p:nvGrpSpPr>
        <p:grpSpPr>
          <a:xfrm>
            <a:off x="539496" y="1108101"/>
            <a:ext cx="8299704" cy="685800"/>
            <a:chOff x="502920" y="1508760"/>
            <a:chExt cx="8138160" cy="685800"/>
          </a:xfrm>
        </p:grpSpPr>
        <p:sp>
          <p:nvSpPr>
            <p:cNvPr id="6" name="Shape 4"/>
            <p:cNvSpPr/>
            <p:nvPr/>
          </p:nvSpPr>
          <p:spPr>
            <a:xfrm>
              <a:off x="502920" y="1508760"/>
              <a:ext cx="8138160" cy="685800"/>
            </a:xfrm>
            <a:prstGeom prst="rect">
              <a:avLst/>
            </a:prstGeom>
            <a:solidFill>
              <a:srgbClr val="E8F4F5"/>
            </a:solidFill>
            <a:ln w="12700">
              <a:solidFill>
                <a:srgbClr val="D0EAEB"/>
              </a:solidFill>
              <a:prstDash val="solid"/>
            </a:ln>
          </p:spPr>
        </p:sp>
        <p:sp>
          <p:nvSpPr>
            <p:cNvPr id="7" name="Shape 5"/>
            <p:cNvSpPr/>
            <p:nvPr/>
          </p:nvSpPr>
          <p:spPr>
            <a:xfrm>
              <a:off x="502920" y="1508760"/>
              <a:ext cx="45720" cy="685800"/>
            </a:xfrm>
            <a:prstGeom prst="rect">
              <a:avLst/>
            </a:prstGeom>
            <a:solidFill>
              <a:srgbClr val="006D6F"/>
            </a:solidFill>
            <a:ln w="12700">
              <a:solidFill>
                <a:srgbClr val="006D6F"/>
              </a:solidFill>
              <a:prstDash val="solid"/>
            </a:ln>
          </p:spPr>
        </p:sp>
        <p:sp>
          <p:nvSpPr>
            <p:cNvPr id="8" name="Text 6"/>
            <p:cNvSpPr/>
            <p:nvPr/>
          </p:nvSpPr>
          <p:spPr>
            <a:xfrm>
              <a:off x="685800" y="1508760"/>
              <a:ext cx="7818120" cy="685800"/>
            </a:xfrm>
            <a:prstGeom prst="rect">
              <a:avLst/>
            </a:prstGeom>
            <a:noFill/>
            <a:ln/>
          </p:spPr>
          <p:txBody>
            <a:bodyPr wrap="square" rtlCol="0" anchor="ctr"/>
            <a:lstStyle/>
            <a:p>
              <a:pPr marL="0" indent="0">
                <a:buNone/>
              </a:pPr>
              <a:r>
                <a:rPr lang="en-US" sz="1100" i="1" dirty="0">
                  <a:solidFill>
                    <a:srgbClr val="4A6272"/>
                  </a:solidFill>
                  <a:latin typeface="Calibri" pitchFamily="34" charset="0"/>
                  <a:ea typeface="Calibri" pitchFamily="34" charset="-122"/>
                  <a:cs typeface="Calibri" pitchFamily="34" charset="-120"/>
                </a:rPr>
                <a:t>"Detect fraud before it happens — in real time. Designed to promote financial inclusion in emerging markets such as Africa and Asia where fraud runs rampant due to the lack of safe digital tools with primary focus to protect vulnerable victims from fraud such as women”</a:t>
              </a:r>
              <a:endParaRPr lang="en-US" sz="1100" dirty="0"/>
            </a:p>
          </p:txBody>
        </p:sp>
      </p:grpSp>
      <p:sp>
        <p:nvSpPr>
          <p:cNvPr id="9" name="Shape 7"/>
          <p:cNvSpPr/>
          <p:nvPr/>
        </p:nvSpPr>
        <p:spPr>
          <a:xfrm>
            <a:off x="502920" y="2039112"/>
            <a:ext cx="3977640" cy="960120"/>
          </a:xfrm>
          <a:prstGeom prst="roundRect">
            <a:avLst>
              <a:gd name="adj" fmla="val 7619"/>
            </a:avLst>
          </a:prstGeom>
          <a:solidFill>
            <a:srgbClr val="FFFFFF"/>
          </a:solidFill>
          <a:ln w="12700">
            <a:solidFill>
              <a:srgbClr val="D8E4E8"/>
            </a:solidFill>
            <a:prstDash val="solid"/>
          </a:ln>
        </p:spPr>
      </p:sp>
      <p:sp>
        <p:nvSpPr>
          <p:cNvPr id="10" name="Shape 8"/>
          <p:cNvSpPr/>
          <p:nvPr/>
        </p:nvSpPr>
        <p:spPr>
          <a:xfrm>
            <a:off x="502920" y="2039112"/>
            <a:ext cx="45720" cy="960120"/>
          </a:xfrm>
          <a:prstGeom prst="rect">
            <a:avLst/>
          </a:prstGeom>
          <a:solidFill>
            <a:srgbClr val="006D6F"/>
          </a:solidFill>
          <a:ln w="12700">
            <a:solidFill>
              <a:srgbClr val="006D6F"/>
            </a:solidFill>
            <a:prstDash val="solid"/>
          </a:ln>
        </p:spPr>
      </p:sp>
      <p:sp>
        <p:nvSpPr>
          <p:cNvPr id="11" name="Text 9"/>
          <p:cNvSpPr/>
          <p:nvPr/>
        </p:nvSpPr>
        <p:spPr>
          <a:xfrm>
            <a:off x="685800" y="2167128"/>
            <a:ext cx="3721608" cy="292608"/>
          </a:xfrm>
          <a:prstGeom prst="rect">
            <a:avLst/>
          </a:prstGeom>
          <a:noFill/>
          <a:ln/>
        </p:spPr>
        <p:txBody>
          <a:bodyPr wrap="square" rtlCol="0" anchor="ctr"/>
          <a:lstStyle/>
          <a:p>
            <a:pPr marL="0" indent="0">
              <a:buNone/>
            </a:pPr>
            <a:r>
              <a:rPr lang="en-US" sz="1200" b="1" dirty="0">
                <a:solidFill>
                  <a:srgbClr val="1C2B3A"/>
                </a:solidFill>
                <a:latin typeface="Calibri" pitchFamily="34" charset="0"/>
                <a:ea typeface="Calibri" pitchFamily="34" charset="-122"/>
                <a:cs typeface="Calibri" pitchFamily="34" charset="-120"/>
              </a:rPr>
              <a:t>Real-Time Detection</a:t>
            </a:r>
            <a:endParaRPr lang="en-US" sz="1200" dirty="0"/>
          </a:p>
        </p:txBody>
      </p:sp>
      <p:sp>
        <p:nvSpPr>
          <p:cNvPr id="12" name="Text 10"/>
          <p:cNvSpPr/>
          <p:nvPr/>
        </p:nvSpPr>
        <p:spPr>
          <a:xfrm>
            <a:off x="685800" y="2478024"/>
            <a:ext cx="3721608" cy="393192"/>
          </a:xfrm>
          <a:prstGeom prst="rect">
            <a:avLst/>
          </a:prstGeom>
          <a:noFill/>
          <a:ln/>
        </p:spPr>
        <p:txBody>
          <a:bodyPr wrap="square" rtlCol="0" anchor="ctr"/>
          <a:lstStyle/>
          <a:p>
            <a:pPr marL="0" indent="0">
              <a:lnSpc>
                <a:spcPct val="135000"/>
              </a:lnSpc>
              <a:buNone/>
            </a:pPr>
            <a:r>
              <a:rPr lang="en-US" sz="1050" dirty="0">
                <a:solidFill>
                  <a:srgbClr val="4A6272"/>
                </a:solidFill>
                <a:latin typeface="Calibri" pitchFamily="34" charset="0"/>
                <a:ea typeface="Calibri" pitchFamily="34" charset="-122"/>
                <a:cs typeface="Calibri" pitchFamily="34" charset="-120"/>
              </a:rPr>
              <a:t>Evaluates every transaction real-time  across 33 rules and 31 typologies -- flags fraud instantly</a:t>
            </a:r>
            <a:endParaRPr lang="en-US" sz="1050" dirty="0"/>
          </a:p>
        </p:txBody>
      </p:sp>
      <p:grpSp>
        <p:nvGrpSpPr>
          <p:cNvPr id="29" name="Group 28">
            <a:extLst>
              <a:ext uri="{FF2B5EF4-FFF2-40B4-BE49-F238E27FC236}">
                <a16:creationId xmlns:a16="http://schemas.microsoft.com/office/drawing/2014/main" id="{68993B4A-D36F-97A5-DC2F-6BB6F5107449}"/>
              </a:ext>
            </a:extLst>
          </p:cNvPr>
          <p:cNvGrpSpPr/>
          <p:nvPr/>
        </p:nvGrpSpPr>
        <p:grpSpPr>
          <a:xfrm>
            <a:off x="4663440" y="2047647"/>
            <a:ext cx="3977640" cy="960120"/>
            <a:chOff x="4663440" y="2359152"/>
            <a:chExt cx="3977640" cy="960120"/>
          </a:xfrm>
        </p:grpSpPr>
        <p:sp>
          <p:nvSpPr>
            <p:cNvPr id="13" name="Shape 11"/>
            <p:cNvSpPr/>
            <p:nvPr/>
          </p:nvSpPr>
          <p:spPr>
            <a:xfrm>
              <a:off x="4663440" y="2359152"/>
              <a:ext cx="3977640" cy="960120"/>
            </a:xfrm>
            <a:prstGeom prst="roundRect">
              <a:avLst>
                <a:gd name="adj" fmla="val 7619"/>
              </a:avLst>
            </a:prstGeom>
            <a:solidFill>
              <a:srgbClr val="FFFFFF"/>
            </a:solidFill>
            <a:ln w="12700">
              <a:solidFill>
                <a:srgbClr val="D8E4E8"/>
              </a:solidFill>
              <a:prstDash val="solid"/>
            </a:ln>
          </p:spPr>
        </p:sp>
        <p:sp>
          <p:nvSpPr>
            <p:cNvPr id="14" name="Shape 12"/>
            <p:cNvSpPr/>
            <p:nvPr/>
          </p:nvSpPr>
          <p:spPr>
            <a:xfrm>
              <a:off x="4663440" y="2359152"/>
              <a:ext cx="45720" cy="960120"/>
            </a:xfrm>
            <a:prstGeom prst="rect">
              <a:avLst/>
            </a:prstGeom>
            <a:solidFill>
              <a:srgbClr val="2D4A6B"/>
            </a:solidFill>
            <a:ln w="12700">
              <a:solidFill>
                <a:srgbClr val="2D4A6B"/>
              </a:solidFill>
              <a:prstDash val="solid"/>
            </a:ln>
          </p:spPr>
        </p:sp>
        <p:sp>
          <p:nvSpPr>
            <p:cNvPr id="15" name="Text 13"/>
            <p:cNvSpPr/>
            <p:nvPr/>
          </p:nvSpPr>
          <p:spPr>
            <a:xfrm>
              <a:off x="4846320" y="2487168"/>
              <a:ext cx="3721608" cy="292608"/>
            </a:xfrm>
            <a:prstGeom prst="rect">
              <a:avLst/>
            </a:prstGeom>
            <a:noFill/>
            <a:ln/>
          </p:spPr>
          <p:txBody>
            <a:bodyPr wrap="square" rtlCol="0" anchor="ctr"/>
            <a:lstStyle/>
            <a:p>
              <a:pPr marL="0" indent="0">
                <a:buNone/>
              </a:pPr>
              <a:r>
                <a:rPr lang="en-US" sz="1200" b="1" dirty="0">
                  <a:solidFill>
                    <a:srgbClr val="1C2B3A"/>
                  </a:solidFill>
                  <a:latin typeface="Calibri" pitchFamily="34" charset="0"/>
                  <a:ea typeface="Calibri" pitchFamily="34" charset="-122"/>
                  <a:cs typeface="Calibri" pitchFamily="34" charset="-120"/>
                </a:rPr>
                <a:t>Emerging Markets Focus</a:t>
              </a:r>
              <a:endParaRPr lang="en-US" sz="1200" dirty="0"/>
            </a:p>
          </p:txBody>
        </p:sp>
        <p:sp>
          <p:nvSpPr>
            <p:cNvPr id="16" name="Text 14"/>
            <p:cNvSpPr/>
            <p:nvPr/>
          </p:nvSpPr>
          <p:spPr>
            <a:xfrm>
              <a:off x="4846320" y="2798064"/>
              <a:ext cx="3721608" cy="393192"/>
            </a:xfrm>
            <a:prstGeom prst="rect">
              <a:avLst/>
            </a:prstGeom>
            <a:noFill/>
            <a:ln/>
          </p:spPr>
          <p:txBody>
            <a:bodyPr wrap="square" rtlCol="0" anchor="ctr"/>
            <a:lstStyle/>
            <a:p>
              <a:pPr marL="0" indent="0">
                <a:lnSpc>
                  <a:spcPct val="135000"/>
                </a:lnSpc>
                <a:buNone/>
              </a:pPr>
              <a:r>
                <a:rPr lang="en-US" sz="1050" dirty="0">
                  <a:solidFill>
                    <a:srgbClr val="4A6272"/>
                  </a:solidFill>
                  <a:latin typeface="Calibri" pitchFamily="34" charset="0"/>
                  <a:ea typeface="Calibri" pitchFamily="34" charset="-122"/>
                  <a:cs typeface="Calibri" pitchFamily="34" charset="-120"/>
                </a:rPr>
                <a:t>Deployed by dozen financial service providers in Beta program across South African markets and global ecosystems</a:t>
              </a:r>
              <a:endParaRPr lang="en-US" sz="1050" dirty="0"/>
            </a:p>
          </p:txBody>
        </p:sp>
      </p:grpSp>
      <p:sp>
        <p:nvSpPr>
          <p:cNvPr id="17" name="Shape 15"/>
          <p:cNvSpPr/>
          <p:nvPr/>
        </p:nvSpPr>
        <p:spPr>
          <a:xfrm>
            <a:off x="521208" y="3206496"/>
            <a:ext cx="3977640" cy="960120"/>
          </a:xfrm>
          <a:prstGeom prst="roundRect">
            <a:avLst>
              <a:gd name="adj" fmla="val 7619"/>
            </a:avLst>
          </a:prstGeom>
          <a:solidFill>
            <a:srgbClr val="FFFFFF"/>
          </a:solidFill>
          <a:ln w="12700">
            <a:solidFill>
              <a:srgbClr val="D8E4E8"/>
            </a:solidFill>
            <a:prstDash val="solid"/>
          </a:ln>
        </p:spPr>
      </p:sp>
      <p:sp>
        <p:nvSpPr>
          <p:cNvPr id="18" name="Shape 16"/>
          <p:cNvSpPr/>
          <p:nvPr/>
        </p:nvSpPr>
        <p:spPr>
          <a:xfrm>
            <a:off x="521208" y="3206496"/>
            <a:ext cx="45720" cy="960120"/>
          </a:xfrm>
          <a:prstGeom prst="rect">
            <a:avLst/>
          </a:prstGeom>
          <a:solidFill>
            <a:srgbClr val="006D6F"/>
          </a:solidFill>
          <a:ln w="12700">
            <a:solidFill>
              <a:srgbClr val="006D6F"/>
            </a:solidFill>
            <a:prstDash val="solid"/>
          </a:ln>
        </p:spPr>
      </p:sp>
      <p:sp>
        <p:nvSpPr>
          <p:cNvPr id="19" name="Text 17"/>
          <p:cNvSpPr/>
          <p:nvPr/>
        </p:nvSpPr>
        <p:spPr>
          <a:xfrm>
            <a:off x="704088" y="3334512"/>
            <a:ext cx="3721608" cy="292608"/>
          </a:xfrm>
          <a:prstGeom prst="rect">
            <a:avLst/>
          </a:prstGeom>
          <a:noFill/>
          <a:ln/>
        </p:spPr>
        <p:txBody>
          <a:bodyPr wrap="square" rtlCol="0" anchor="ctr"/>
          <a:lstStyle/>
          <a:p>
            <a:pPr marL="0" indent="0">
              <a:buNone/>
            </a:pPr>
            <a:r>
              <a:rPr lang="en-US" sz="1200" b="1" dirty="0">
                <a:solidFill>
                  <a:srgbClr val="1C2B3A"/>
                </a:solidFill>
                <a:latin typeface="Calibri" pitchFamily="34" charset="0"/>
                <a:ea typeface="Calibri" pitchFamily="34" charset="-122"/>
                <a:cs typeface="Calibri" pitchFamily="34" charset="-120"/>
              </a:rPr>
              <a:t>Customizable and Integration-ready</a:t>
            </a:r>
            <a:endParaRPr lang="en-US" sz="1200" dirty="0"/>
          </a:p>
        </p:txBody>
      </p:sp>
      <p:sp>
        <p:nvSpPr>
          <p:cNvPr id="20" name="Text 18"/>
          <p:cNvSpPr/>
          <p:nvPr/>
        </p:nvSpPr>
        <p:spPr>
          <a:xfrm>
            <a:off x="704088" y="3645408"/>
            <a:ext cx="3721608" cy="393192"/>
          </a:xfrm>
          <a:prstGeom prst="rect">
            <a:avLst/>
          </a:prstGeom>
          <a:noFill/>
          <a:ln/>
        </p:spPr>
        <p:txBody>
          <a:bodyPr wrap="square" rtlCol="0" anchor="ctr"/>
          <a:lstStyle/>
          <a:p>
            <a:pPr>
              <a:lnSpc>
                <a:spcPct val="135000"/>
              </a:lnSpc>
            </a:pPr>
            <a:r>
              <a:rPr lang="en-US" sz="1050" dirty="0">
                <a:solidFill>
                  <a:srgbClr val="4A6272"/>
                </a:solidFill>
                <a:latin typeface="Calibri" pitchFamily="34" charset="0"/>
                <a:ea typeface="Calibri" pitchFamily="34" charset="-122"/>
                <a:cs typeface="Calibri" pitchFamily="34" charset="-120"/>
              </a:rPr>
              <a:t>Defines alerts based on institution’s needs</a:t>
            </a:r>
          </a:p>
          <a:p>
            <a:pPr>
              <a:lnSpc>
                <a:spcPct val="135000"/>
              </a:lnSpc>
            </a:pPr>
            <a:r>
              <a:rPr lang="en-US" sz="1050" dirty="0">
                <a:solidFill>
                  <a:srgbClr val="4A6272"/>
                </a:solidFill>
                <a:latin typeface="Calibri" pitchFamily="34" charset="0"/>
                <a:ea typeface="Calibri" pitchFamily="34" charset="-122"/>
                <a:cs typeface="Calibri" pitchFamily="34" charset="-120"/>
              </a:rPr>
              <a:t>Seamlessly integrates with existing banking &amp; payment systems</a:t>
            </a:r>
          </a:p>
        </p:txBody>
      </p:sp>
      <p:grpSp>
        <p:nvGrpSpPr>
          <p:cNvPr id="30" name="Group 29">
            <a:extLst>
              <a:ext uri="{FF2B5EF4-FFF2-40B4-BE49-F238E27FC236}">
                <a16:creationId xmlns:a16="http://schemas.microsoft.com/office/drawing/2014/main" id="{737642BA-A1BD-4881-B60D-DEFADDE55543}"/>
              </a:ext>
            </a:extLst>
          </p:cNvPr>
          <p:cNvGrpSpPr/>
          <p:nvPr/>
        </p:nvGrpSpPr>
        <p:grpSpPr>
          <a:xfrm>
            <a:off x="4672584" y="3206496"/>
            <a:ext cx="3977640" cy="960120"/>
            <a:chOff x="4663440" y="3474720"/>
            <a:chExt cx="3977640" cy="960120"/>
          </a:xfrm>
        </p:grpSpPr>
        <p:sp>
          <p:nvSpPr>
            <p:cNvPr id="21" name="Shape 19"/>
            <p:cNvSpPr/>
            <p:nvPr/>
          </p:nvSpPr>
          <p:spPr>
            <a:xfrm>
              <a:off x="4663440" y="3474720"/>
              <a:ext cx="3977640" cy="960120"/>
            </a:xfrm>
            <a:prstGeom prst="roundRect">
              <a:avLst>
                <a:gd name="adj" fmla="val 7619"/>
              </a:avLst>
            </a:prstGeom>
            <a:solidFill>
              <a:srgbClr val="FFFFFF"/>
            </a:solidFill>
            <a:ln w="12700">
              <a:solidFill>
                <a:srgbClr val="D8E4E8"/>
              </a:solidFill>
              <a:prstDash val="solid"/>
            </a:ln>
          </p:spPr>
        </p:sp>
        <p:sp>
          <p:nvSpPr>
            <p:cNvPr id="22" name="Shape 20"/>
            <p:cNvSpPr/>
            <p:nvPr/>
          </p:nvSpPr>
          <p:spPr>
            <a:xfrm>
              <a:off x="4663440" y="3474720"/>
              <a:ext cx="45720" cy="960120"/>
            </a:xfrm>
            <a:prstGeom prst="rect">
              <a:avLst/>
            </a:prstGeom>
            <a:solidFill>
              <a:srgbClr val="2D4A6B"/>
            </a:solidFill>
            <a:ln w="12700">
              <a:solidFill>
                <a:srgbClr val="2D4A6B"/>
              </a:solidFill>
              <a:prstDash val="solid"/>
            </a:ln>
          </p:spPr>
        </p:sp>
        <p:sp>
          <p:nvSpPr>
            <p:cNvPr id="23" name="Text 21"/>
            <p:cNvSpPr/>
            <p:nvPr/>
          </p:nvSpPr>
          <p:spPr>
            <a:xfrm>
              <a:off x="4846320" y="3602736"/>
              <a:ext cx="3721608" cy="292608"/>
            </a:xfrm>
            <a:prstGeom prst="rect">
              <a:avLst/>
            </a:prstGeom>
            <a:noFill/>
            <a:ln/>
          </p:spPr>
          <p:txBody>
            <a:bodyPr wrap="square" rtlCol="0" anchor="ctr"/>
            <a:lstStyle/>
            <a:p>
              <a:pPr marL="0" indent="0">
                <a:buNone/>
              </a:pPr>
              <a:r>
                <a:rPr lang="en-US" sz="1200" b="1" dirty="0">
                  <a:solidFill>
                    <a:srgbClr val="1C2B3A"/>
                  </a:solidFill>
                  <a:latin typeface="Calibri" pitchFamily="34" charset="0"/>
                  <a:ea typeface="Calibri" pitchFamily="34" charset="-122"/>
                  <a:cs typeface="Calibri" pitchFamily="34" charset="-120"/>
                </a:rPr>
                <a:t>Investigation Ready</a:t>
              </a:r>
              <a:endParaRPr lang="en-US" sz="1200" dirty="0"/>
            </a:p>
          </p:txBody>
        </p:sp>
        <p:sp>
          <p:nvSpPr>
            <p:cNvPr id="24" name="Text 22"/>
            <p:cNvSpPr/>
            <p:nvPr/>
          </p:nvSpPr>
          <p:spPr>
            <a:xfrm>
              <a:off x="4846320" y="3913632"/>
              <a:ext cx="3721608" cy="393192"/>
            </a:xfrm>
            <a:prstGeom prst="rect">
              <a:avLst/>
            </a:prstGeom>
            <a:noFill/>
            <a:ln/>
          </p:spPr>
          <p:txBody>
            <a:bodyPr wrap="square" rtlCol="0" anchor="ctr"/>
            <a:lstStyle/>
            <a:p>
              <a:pPr marL="0" indent="0">
                <a:lnSpc>
                  <a:spcPct val="135000"/>
                </a:lnSpc>
                <a:buNone/>
              </a:pPr>
              <a:r>
                <a:rPr lang="en-US" sz="1050" dirty="0">
                  <a:solidFill>
                    <a:srgbClr val="4A6272"/>
                  </a:solidFill>
                  <a:latin typeface="Calibri" pitchFamily="34" charset="0"/>
                  <a:ea typeface="Calibri" pitchFamily="34" charset="-122"/>
                  <a:cs typeface="Calibri" pitchFamily="34" charset="-120"/>
                </a:rPr>
                <a:t>End-to-end case management and analytics on JupyterLab for investigations and reporting</a:t>
              </a:r>
              <a:endParaRPr lang="en-US" sz="1050" dirty="0"/>
            </a:p>
          </p:txBody>
        </p:sp>
      </p:grpSp>
      <p:sp>
        <p:nvSpPr>
          <p:cNvPr id="25" name="Shape 23"/>
          <p:cNvSpPr/>
          <p:nvPr/>
        </p:nvSpPr>
        <p:spPr>
          <a:xfrm>
            <a:off x="502920" y="4800600"/>
            <a:ext cx="8138160" cy="16459"/>
          </a:xfrm>
          <a:prstGeom prst="rect">
            <a:avLst/>
          </a:prstGeom>
          <a:solidFill>
            <a:srgbClr val="D8E4E8"/>
          </a:solidFill>
          <a:ln w="12700">
            <a:solidFill>
              <a:srgbClr val="D8E4E8"/>
            </a:solidFill>
            <a:prstDash val="solid"/>
          </a:ln>
        </p:spPr>
      </p:sp>
      <p:sp>
        <p:nvSpPr>
          <p:cNvPr id="26" name="Text 24"/>
          <p:cNvSpPr/>
          <p:nvPr/>
        </p:nvSpPr>
        <p:spPr>
          <a:xfrm>
            <a:off x="502920" y="4846320"/>
            <a:ext cx="8138160" cy="228600"/>
          </a:xfrm>
          <a:prstGeom prst="rect">
            <a:avLst/>
          </a:prstGeom>
          <a:noFill/>
          <a:ln/>
        </p:spPr>
        <p:txBody>
          <a:bodyPr wrap="square" rtlCol="0" anchor="ctr"/>
          <a:lstStyle/>
          <a:p>
            <a:pPr marL="0" indent="0" algn="ctr">
              <a:buNone/>
            </a:pPr>
            <a:r>
              <a:rPr lang="en-US" sz="850" dirty="0">
                <a:solidFill>
                  <a:srgbClr val="8A9BAB"/>
                </a:solidFill>
                <a:latin typeface="Calibri" pitchFamily="34" charset="0"/>
                <a:ea typeface="Calibri" pitchFamily="34" charset="-122"/>
                <a:cs typeface="Calibri" pitchFamily="34" charset="-120"/>
              </a:rPr>
              <a:t>Managed by Linux Foundation   ·   Funded by Bill &amp; Melinda Gates Foundation   ·   Partners: Paysys Labs, Mojaloop, Sybrin and 10+ ecosystem partners</a:t>
            </a:r>
            <a:endParaRPr lang="en-US" sz="850" dirty="0"/>
          </a:p>
        </p:txBody>
      </p:sp>
      <p:sp>
        <p:nvSpPr>
          <p:cNvPr id="28" name="Text 3">
            <a:extLst>
              <a:ext uri="{FF2B5EF4-FFF2-40B4-BE49-F238E27FC236}">
                <a16:creationId xmlns:a16="http://schemas.microsoft.com/office/drawing/2014/main" id="{B5655985-BFE6-42FC-EB07-687E902CD716}"/>
              </a:ext>
            </a:extLst>
          </p:cNvPr>
          <p:cNvSpPr/>
          <p:nvPr/>
        </p:nvSpPr>
        <p:spPr>
          <a:xfrm>
            <a:off x="454914" y="74981"/>
            <a:ext cx="8234172" cy="463906"/>
          </a:xfrm>
          <a:prstGeom prst="rect">
            <a:avLst/>
          </a:prstGeom>
          <a:noFill/>
          <a:ln/>
        </p:spPr>
        <p:txBody>
          <a:bodyPr wrap="square" rtlCol="0" anchor="ctr"/>
          <a:lstStyle/>
          <a:p>
            <a:r>
              <a:rPr lang="en-US" sz="1400" b="1" kern="0" spc="200" dirty="0">
                <a:solidFill>
                  <a:srgbClr val="006D6F"/>
                </a:solidFill>
                <a:ea typeface="Calibri" pitchFamily="34" charset="-122"/>
                <a:cs typeface="Calibri" pitchFamily="34" charset="-120"/>
              </a:rPr>
              <a:t>What is TAZAMA Project?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0" y="274320"/>
            <a:ext cx="3474720" cy="4389120"/>
          </a:xfrm>
          <a:prstGeom prst="rect">
            <a:avLst/>
          </a:prstGeom>
          <a:noFill/>
          <a:ln/>
        </p:spPr>
        <p:txBody>
          <a:bodyPr wrap="square" rtlCol="0" anchor="ctr"/>
          <a:lstStyle/>
          <a:p>
            <a:pPr marL="0" indent="0" algn="ctr">
              <a:buNone/>
            </a:pPr>
            <a:r>
              <a:rPr lang="en-US" sz="20000" b="1" dirty="0">
                <a:solidFill>
                  <a:srgbClr val="D0EAEB"/>
                </a:solidFill>
                <a:latin typeface="Calibri" pitchFamily="34" charset="0"/>
                <a:ea typeface="Calibri" pitchFamily="34" charset="-122"/>
                <a:cs typeface="Calibri" pitchFamily="34" charset="-120"/>
              </a:rPr>
              <a:t>03</a:t>
            </a:r>
            <a:endParaRPr lang="en-US" sz="20000" dirty="0"/>
          </a:p>
        </p:txBody>
      </p:sp>
      <p:sp>
        <p:nvSpPr>
          <p:cNvPr id="3" name="Shape 1"/>
          <p:cNvSpPr/>
          <p:nvPr/>
        </p:nvSpPr>
        <p:spPr>
          <a:xfrm>
            <a:off x="0" y="0"/>
            <a:ext cx="320040" cy="5143500"/>
          </a:xfrm>
          <a:prstGeom prst="rect">
            <a:avLst/>
          </a:prstGeom>
          <a:solidFill>
            <a:srgbClr val="006D6F"/>
          </a:solidFill>
          <a:ln w="12700">
            <a:solidFill>
              <a:srgbClr val="006D6F"/>
            </a:solidFill>
            <a:prstDash val="solid"/>
          </a:ln>
        </p:spPr>
      </p:sp>
      <p:sp>
        <p:nvSpPr>
          <p:cNvPr id="4" name="Text 2"/>
          <p:cNvSpPr/>
          <p:nvPr/>
        </p:nvSpPr>
        <p:spPr>
          <a:xfrm>
            <a:off x="416052" y="146304"/>
            <a:ext cx="3657600" cy="201168"/>
          </a:xfrm>
          <a:prstGeom prst="rect">
            <a:avLst/>
          </a:prstGeom>
          <a:noFill/>
          <a:ln/>
        </p:spPr>
        <p:txBody>
          <a:bodyPr wrap="square" rtlCol="0" anchor="ctr"/>
          <a:lstStyle/>
          <a:p>
            <a:pPr indent="0">
              <a:buNone/>
            </a:pPr>
            <a:r>
              <a:rPr lang="en-US" sz="1400" b="1" kern="0" spc="200" dirty="0">
                <a:solidFill>
                  <a:srgbClr val="006D6F"/>
                </a:solidFill>
                <a:ea typeface="Calibri" pitchFamily="34" charset="-122"/>
                <a:cs typeface="Calibri" pitchFamily="34" charset="-120"/>
              </a:rPr>
              <a:t>THE PROBLEM</a:t>
            </a:r>
          </a:p>
        </p:txBody>
      </p:sp>
      <p:sp>
        <p:nvSpPr>
          <p:cNvPr id="5" name="Text 3"/>
          <p:cNvSpPr/>
          <p:nvPr/>
        </p:nvSpPr>
        <p:spPr>
          <a:xfrm>
            <a:off x="402336" y="260604"/>
            <a:ext cx="7772400" cy="777240"/>
          </a:xfrm>
          <a:prstGeom prst="rect">
            <a:avLst/>
          </a:prstGeom>
          <a:noFill/>
          <a:ln/>
        </p:spPr>
        <p:txBody>
          <a:bodyPr wrap="square" rtlCol="0" anchor="ctr"/>
          <a:lstStyle/>
          <a:p>
            <a:pPr marL="0" indent="0">
              <a:buNone/>
            </a:pPr>
            <a:r>
              <a:rPr lang="en-US" sz="2800" b="1" dirty="0">
                <a:solidFill>
                  <a:srgbClr val="1C2B3A"/>
                </a:solidFill>
                <a:latin typeface="Calibri" pitchFamily="34" charset="0"/>
                <a:ea typeface="Calibri" pitchFamily="34" charset="-122"/>
                <a:cs typeface="Calibri" pitchFamily="34" charset="-120"/>
              </a:rPr>
              <a:t>Fraud Investigators were effectively left blind</a:t>
            </a:r>
            <a:endParaRPr lang="en-US" sz="2800" dirty="0"/>
          </a:p>
        </p:txBody>
      </p:sp>
      <p:grpSp>
        <p:nvGrpSpPr>
          <p:cNvPr id="23" name="Group 22">
            <a:extLst>
              <a:ext uri="{FF2B5EF4-FFF2-40B4-BE49-F238E27FC236}">
                <a16:creationId xmlns:a16="http://schemas.microsoft.com/office/drawing/2014/main" id="{9D40B797-7D37-585E-232B-3370ED353A1B}"/>
              </a:ext>
            </a:extLst>
          </p:cNvPr>
          <p:cNvGrpSpPr/>
          <p:nvPr/>
        </p:nvGrpSpPr>
        <p:grpSpPr>
          <a:xfrm>
            <a:off x="502920" y="972312"/>
            <a:ext cx="8138160" cy="749808"/>
            <a:chOff x="502920" y="1508760"/>
            <a:chExt cx="8138160" cy="749808"/>
          </a:xfrm>
        </p:grpSpPr>
        <p:sp>
          <p:nvSpPr>
            <p:cNvPr id="6" name="Shape 4"/>
            <p:cNvSpPr/>
            <p:nvPr/>
          </p:nvSpPr>
          <p:spPr>
            <a:xfrm>
              <a:off x="502920" y="1508760"/>
              <a:ext cx="8138160" cy="749808"/>
            </a:xfrm>
            <a:prstGeom prst="rect">
              <a:avLst/>
            </a:prstGeom>
            <a:solidFill>
              <a:srgbClr val="F4F6F8"/>
            </a:solidFill>
            <a:ln w="12700">
              <a:solidFill>
                <a:srgbClr val="D8E4E8"/>
              </a:solidFill>
              <a:prstDash val="solid"/>
            </a:ln>
          </p:spPr>
        </p:sp>
        <p:sp>
          <p:nvSpPr>
            <p:cNvPr id="7" name="Shape 5"/>
            <p:cNvSpPr/>
            <p:nvPr/>
          </p:nvSpPr>
          <p:spPr>
            <a:xfrm>
              <a:off x="502920" y="1508760"/>
              <a:ext cx="45720" cy="749808"/>
            </a:xfrm>
            <a:prstGeom prst="rect">
              <a:avLst/>
            </a:prstGeom>
            <a:solidFill>
              <a:srgbClr val="C0392B"/>
            </a:solidFill>
            <a:ln w="12700">
              <a:solidFill>
                <a:srgbClr val="C0392B"/>
              </a:solidFill>
              <a:prstDash val="solid"/>
            </a:ln>
          </p:spPr>
        </p:sp>
        <p:sp>
          <p:nvSpPr>
            <p:cNvPr id="8" name="Text 6"/>
            <p:cNvSpPr/>
            <p:nvPr/>
          </p:nvSpPr>
          <p:spPr>
            <a:xfrm>
              <a:off x="685800" y="1508760"/>
              <a:ext cx="7818120" cy="749808"/>
            </a:xfrm>
            <a:prstGeom prst="rect">
              <a:avLst/>
            </a:prstGeom>
            <a:noFill/>
            <a:ln/>
          </p:spPr>
          <p:txBody>
            <a:bodyPr wrap="square" rtlCol="0" anchor="ctr"/>
            <a:lstStyle/>
            <a:p>
              <a:pPr marL="0" indent="0">
                <a:buNone/>
              </a:pPr>
              <a:r>
                <a:rPr lang="en-US" sz="1300" dirty="0" err="1">
                  <a:solidFill>
                    <a:srgbClr val="1C2B3A"/>
                  </a:solidFill>
                </a:rPr>
                <a:t>Tazama</a:t>
              </a:r>
              <a:r>
                <a:rPr lang="en-US" sz="1300" dirty="0">
                  <a:solidFill>
                    <a:srgbClr val="1C2B3A"/>
                  </a:solidFill>
                </a:rPr>
                <a:t> evaluates transactions across </a:t>
              </a:r>
              <a:r>
                <a:rPr lang="en-US" sz="1300" b="1" dirty="0">
                  <a:solidFill>
                    <a:srgbClr val="006D6F"/>
                  </a:solidFill>
                </a:rPr>
                <a:t>33 rules</a:t>
              </a:r>
              <a:r>
                <a:rPr lang="en-US" sz="1300" dirty="0">
                  <a:solidFill>
                    <a:srgbClr val="1C2B3A"/>
                  </a:solidFill>
                </a:rPr>
                <a:t> and </a:t>
              </a:r>
              <a:r>
                <a:rPr lang="en-US" sz="1300" b="1" dirty="0">
                  <a:solidFill>
                    <a:srgbClr val="006D6F"/>
                  </a:solidFill>
                </a:rPr>
                <a:t>31 typologies</a:t>
              </a:r>
              <a:r>
                <a:rPr lang="en-US" sz="1300" dirty="0">
                  <a:solidFill>
                    <a:srgbClr val="1C2B3A"/>
                  </a:solidFill>
                </a:rPr>
                <a:t> but investigators receive only a binary </a:t>
              </a:r>
              <a:r>
                <a:rPr lang="en-US" sz="1300" b="1" dirty="0">
                  <a:solidFill>
                    <a:srgbClr val="C0392B"/>
                  </a:solidFill>
                </a:rPr>
                <a:t>"ALRT"</a:t>
              </a:r>
              <a:r>
                <a:rPr lang="en-US" sz="1300" dirty="0">
                  <a:solidFill>
                    <a:srgbClr val="1C2B3A"/>
                  </a:solidFill>
                </a:rPr>
                <a:t> signal. No context. No explanation. No data.</a:t>
              </a:r>
              <a:endParaRPr lang="en-US" sz="1300" dirty="0"/>
            </a:p>
          </p:txBody>
        </p:sp>
      </p:grpSp>
      <p:grpSp>
        <p:nvGrpSpPr>
          <p:cNvPr id="24" name="Group 23">
            <a:extLst>
              <a:ext uri="{FF2B5EF4-FFF2-40B4-BE49-F238E27FC236}">
                <a16:creationId xmlns:a16="http://schemas.microsoft.com/office/drawing/2014/main" id="{05800C16-6F68-565F-EC57-624CF5F9E101}"/>
              </a:ext>
            </a:extLst>
          </p:cNvPr>
          <p:cNvGrpSpPr/>
          <p:nvPr/>
        </p:nvGrpSpPr>
        <p:grpSpPr>
          <a:xfrm>
            <a:off x="521208" y="2016252"/>
            <a:ext cx="2633472" cy="2194560"/>
            <a:chOff x="502920" y="2423160"/>
            <a:chExt cx="2633472" cy="2194560"/>
          </a:xfrm>
        </p:grpSpPr>
        <p:sp>
          <p:nvSpPr>
            <p:cNvPr id="9" name="Shape 7"/>
            <p:cNvSpPr/>
            <p:nvPr/>
          </p:nvSpPr>
          <p:spPr>
            <a:xfrm>
              <a:off x="502920" y="2423160"/>
              <a:ext cx="2633472" cy="2194560"/>
            </a:xfrm>
            <a:prstGeom prst="roundRect">
              <a:avLst>
                <a:gd name="adj" fmla="val 3333"/>
              </a:avLst>
            </a:prstGeom>
            <a:solidFill>
              <a:srgbClr val="FFFFFF"/>
            </a:solidFill>
            <a:ln w="12700">
              <a:solidFill>
                <a:srgbClr val="D8E4E8"/>
              </a:solidFill>
              <a:prstDash val="solid"/>
            </a:ln>
          </p:spPr>
        </p:sp>
        <p:sp>
          <p:nvSpPr>
            <p:cNvPr id="10" name="Shape 8"/>
            <p:cNvSpPr/>
            <p:nvPr/>
          </p:nvSpPr>
          <p:spPr>
            <a:xfrm>
              <a:off x="502920" y="2423160"/>
              <a:ext cx="45720" cy="2194560"/>
            </a:xfrm>
            <a:prstGeom prst="rect">
              <a:avLst/>
            </a:prstGeom>
            <a:solidFill>
              <a:srgbClr val="C0392B"/>
            </a:solidFill>
            <a:ln w="12700">
              <a:solidFill>
                <a:srgbClr val="C0392B"/>
              </a:solidFill>
              <a:prstDash val="solid"/>
            </a:ln>
          </p:spPr>
        </p:sp>
      </p:grpSp>
      <p:sp>
        <p:nvSpPr>
          <p:cNvPr id="11" name="Text 9"/>
          <p:cNvSpPr/>
          <p:nvPr/>
        </p:nvSpPr>
        <p:spPr>
          <a:xfrm>
            <a:off x="685800" y="2234946"/>
            <a:ext cx="2377440" cy="292608"/>
          </a:xfrm>
          <a:prstGeom prst="rect">
            <a:avLst/>
          </a:prstGeom>
          <a:noFill/>
          <a:ln/>
        </p:spPr>
        <p:txBody>
          <a:bodyPr wrap="square" rtlCol="0" anchor="ctr"/>
          <a:lstStyle/>
          <a:p>
            <a:pPr marL="0" indent="0">
              <a:buNone/>
            </a:pPr>
            <a:r>
              <a:rPr lang="en-US" sz="1400" b="1" dirty="0">
                <a:solidFill>
                  <a:srgbClr val="1C2B3A"/>
                </a:solidFill>
                <a:latin typeface="Calibri" pitchFamily="34" charset="0"/>
                <a:ea typeface="Calibri" pitchFamily="34" charset="-122"/>
                <a:cs typeface="Calibri" pitchFamily="34" charset="-120"/>
              </a:rPr>
              <a:t>No Explainability</a:t>
            </a:r>
            <a:endParaRPr lang="en-US" sz="1400" dirty="0"/>
          </a:p>
        </p:txBody>
      </p:sp>
      <p:sp>
        <p:nvSpPr>
          <p:cNvPr id="12" name="Text 10"/>
          <p:cNvSpPr/>
          <p:nvPr/>
        </p:nvSpPr>
        <p:spPr>
          <a:xfrm>
            <a:off x="685800" y="2862072"/>
            <a:ext cx="2377440" cy="1243584"/>
          </a:xfrm>
          <a:prstGeom prst="rect">
            <a:avLst/>
          </a:prstGeom>
          <a:noFill/>
          <a:ln/>
        </p:spPr>
        <p:txBody>
          <a:bodyPr wrap="square" rtlCol="0" anchor="ctr"/>
          <a:lstStyle/>
          <a:p>
            <a:pPr marL="0" indent="0">
              <a:lnSpc>
                <a:spcPct val="135000"/>
              </a:lnSpc>
              <a:buNone/>
            </a:pPr>
            <a:r>
              <a:rPr lang="en-US" sz="1200" dirty="0">
                <a:solidFill>
                  <a:srgbClr val="4A6272"/>
                </a:solidFill>
                <a:latin typeface="Calibri" pitchFamily="34" charset="0"/>
                <a:ea typeface="Calibri" pitchFamily="34" charset="-122"/>
                <a:cs typeface="Calibri" pitchFamily="34" charset="-120"/>
              </a:rPr>
              <a:t>Which of the typologies and rules got fired?</a:t>
            </a:r>
            <a:endParaRPr lang="en-US" sz="1200" dirty="0"/>
          </a:p>
          <a:p>
            <a:pPr marL="0" indent="0">
              <a:lnSpc>
                <a:spcPct val="135000"/>
              </a:lnSpc>
              <a:buNone/>
            </a:pPr>
            <a:r>
              <a:rPr lang="en-US" sz="1200" dirty="0">
                <a:solidFill>
                  <a:srgbClr val="4A6272"/>
                </a:solidFill>
                <a:latin typeface="Calibri" pitchFamily="34" charset="0"/>
                <a:ea typeface="Calibri" pitchFamily="34" charset="-122"/>
                <a:cs typeface="Calibri" pitchFamily="34" charset="-120"/>
              </a:rPr>
              <a:t>What was the typology score?</a:t>
            </a:r>
            <a:endParaRPr lang="en-US" sz="1200" dirty="0"/>
          </a:p>
          <a:p>
            <a:pPr marL="0" indent="0">
              <a:lnSpc>
                <a:spcPct val="135000"/>
              </a:lnSpc>
              <a:buNone/>
            </a:pPr>
            <a:r>
              <a:rPr lang="en-US" sz="1200" dirty="0">
                <a:solidFill>
                  <a:srgbClr val="4A6272"/>
                </a:solidFill>
                <a:latin typeface="Calibri" pitchFamily="34" charset="0"/>
                <a:ea typeface="Calibri" pitchFamily="34" charset="-122"/>
                <a:cs typeface="Calibri" pitchFamily="34" charset="-120"/>
              </a:rPr>
              <a:t>What band did the Independent variable fall into?</a:t>
            </a:r>
            <a:endParaRPr lang="en-US" sz="1200" dirty="0"/>
          </a:p>
        </p:txBody>
      </p:sp>
      <p:grpSp>
        <p:nvGrpSpPr>
          <p:cNvPr id="25" name="Group 24">
            <a:extLst>
              <a:ext uri="{FF2B5EF4-FFF2-40B4-BE49-F238E27FC236}">
                <a16:creationId xmlns:a16="http://schemas.microsoft.com/office/drawing/2014/main" id="{986B9217-50C5-C00E-2529-DBB0D395F62C}"/>
              </a:ext>
            </a:extLst>
          </p:cNvPr>
          <p:cNvGrpSpPr/>
          <p:nvPr/>
        </p:nvGrpSpPr>
        <p:grpSpPr>
          <a:xfrm>
            <a:off x="3227832" y="2002536"/>
            <a:ext cx="2633472" cy="2194560"/>
            <a:chOff x="3291840" y="2423160"/>
            <a:chExt cx="2633472" cy="2194560"/>
          </a:xfrm>
        </p:grpSpPr>
        <p:sp>
          <p:nvSpPr>
            <p:cNvPr id="13" name="Shape 11"/>
            <p:cNvSpPr/>
            <p:nvPr/>
          </p:nvSpPr>
          <p:spPr>
            <a:xfrm>
              <a:off x="3291840" y="2423160"/>
              <a:ext cx="2633472" cy="2194560"/>
            </a:xfrm>
            <a:prstGeom prst="roundRect">
              <a:avLst>
                <a:gd name="adj" fmla="val 3333"/>
              </a:avLst>
            </a:prstGeom>
            <a:solidFill>
              <a:srgbClr val="FFFFFF"/>
            </a:solidFill>
            <a:ln w="12700">
              <a:solidFill>
                <a:srgbClr val="D8E4E8"/>
              </a:solidFill>
              <a:prstDash val="solid"/>
            </a:ln>
          </p:spPr>
        </p:sp>
        <p:sp>
          <p:nvSpPr>
            <p:cNvPr id="14" name="Shape 12"/>
            <p:cNvSpPr/>
            <p:nvPr/>
          </p:nvSpPr>
          <p:spPr>
            <a:xfrm>
              <a:off x="3291840" y="2423160"/>
              <a:ext cx="45720" cy="2194560"/>
            </a:xfrm>
            <a:prstGeom prst="rect">
              <a:avLst/>
            </a:prstGeom>
            <a:solidFill>
              <a:srgbClr val="B7860B"/>
            </a:solidFill>
            <a:ln w="12700">
              <a:solidFill>
                <a:srgbClr val="B7860B"/>
              </a:solidFill>
              <a:prstDash val="solid"/>
            </a:ln>
          </p:spPr>
        </p:sp>
      </p:grpSp>
      <p:sp>
        <p:nvSpPr>
          <p:cNvPr id="15" name="Text 13"/>
          <p:cNvSpPr/>
          <p:nvPr/>
        </p:nvSpPr>
        <p:spPr>
          <a:xfrm>
            <a:off x="3474720" y="2258568"/>
            <a:ext cx="2377440" cy="292608"/>
          </a:xfrm>
          <a:prstGeom prst="rect">
            <a:avLst/>
          </a:prstGeom>
          <a:noFill/>
          <a:ln/>
        </p:spPr>
        <p:txBody>
          <a:bodyPr wrap="square" rtlCol="0" anchor="ctr"/>
          <a:lstStyle/>
          <a:p>
            <a:pPr marL="0" indent="0">
              <a:buNone/>
            </a:pPr>
            <a:r>
              <a:rPr lang="en-US" sz="1400" b="1" dirty="0">
                <a:solidFill>
                  <a:srgbClr val="1C2B3A"/>
                </a:solidFill>
                <a:latin typeface="Calibri" pitchFamily="34" charset="0"/>
                <a:ea typeface="Calibri" pitchFamily="34" charset="-122"/>
                <a:cs typeface="Calibri" pitchFamily="34" charset="-120"/>
              </a:rPr>
              <a:t>Slow Triage</a:t>
            </a:r>
            <a:endParaRPr lang="en-US" sz="1400" dirty="0"/>
          </a:p>
        </p:txBody>
      </p:sp>
      <p:sp>
        <p:nvSpPr>
          <p:cNvPr id="16" name="Text 14"/>
          <p:cNvSpPr/>
          <p:nvPr/>
        </p:nvSpPr>
        <p:spPr>
          <a:xfrm>
            <a:off x="3474720" y="2779776"/>
            <a:ext cx="2377440" cy="976884"/>
          </a:xfrm>
          <a:prstGeom prst="rect">
            <a:avLst/>
          </a:prstGeom>
          <a:noFill/>
          <a:ln/>
        </p:spPr>
        <p:txBody>
          <a:bodyPr wrap="square" rtlCol="0" anchor="ctr"/>
          <a:lstStyle/>
          <a:p>
            <a:pPr marL="0" indent="0">
              <a:lnSpc>
                <a:spcPct val="135000"/>
              </a:lnSpc>
              <a:buNone/>
            </a:pPr>
            <a:r>
              <a:rPr lang="en-US" sz="1200" dirty="0">
                <a:solidFill>
                  <a:srgbClr val="4A6272"/>
                </a:solidFill>
                <a:latin typeface="Calibri" pitchFamily="34" charset="0"/>
                <a:ea typeface="Calibri" pitchFamily="34" charset="-122"/>
                <a:cs typeface="Calibri" pitchFamily="34" charset="-120"/>
              </a:rPr>
              <a:t>Every investigation starts from an ALRT</a:t>
            </a:r>
            <a:r>
              <a:rPr lang="en-US" sz="1200" dirty="0"/>
              <a:t> </a:t>
            </a:r>
            <a:r>
              <a:rPr lang="en-US" sz="1200" dirty="0">
                <a:solidFill>
                  <a:srgbClr val="4A6272"/>
                </a:solidFill>
                <a:latin typeface="Calibri" pitchFamily="34" charset="0"/>
                <a:ea typeface="Calibri" pitchFamily="34" charset="-122"/>
                <a:cs typeface="Calibri" pitchFamily="34" charset="-120"/>
              </a:rPr>
              <a:t>but with no metadata context to</a:t>
            </a:r>
            <a:r>
              <a:rPr lang="en-US" sz="1200" dirty="0"/>
              <a:t> </a:t>
            </a:r>
            <a:r>
              <a:rPr lang="en-US" sz="1200" dirty="0">
                <a:solidFill>
                  <a:srgbClr val="4A6272"/>
                </a:solidFill>
                <a:latin typeface="Calibri" pitchFamily="34" charset="0"/>
                <a:ea typeface="Calibri" pitchFamily="34" charset="-122"/>
                <a:cs typeface="Calibri" pitchFamily="34" charset="-120"/>
              </a:rPr>
              <a:t>guide the investigator</a:t>
            </a:r>
            <a:endParaRPr lang="en-US" sz="1200" dirty="0"/>
          </a:p>
        </p:txBody>
      </p:sp>
      <p:grpSp>
        <p:nvGrpSpPr>
          <p:cNvPr id="26" name="Group 25">
            <a:extLst>
              <a:ext uri="{FF2B5EF4-FFF2-40B4-BE49-F238E27FC236}">
                <a16:creationId xmlns:a16="http://schemas.microsoft.com/office/drawing/2014/main" id="{1803F8C7-B32D-C17D-F626-89B08E18DE1A}"/>
              </a:ext>
            </a:extLst>
          </p:cNvPr>
          <p:cNvGrpSpPr/>
          <p:nvPr/>
        </p:nvGrpSpPr>
        <p:grpSpPr>
          <a:xfrm>
            <a:off x="5952744" y="2016252"/>
            <a:ext cx="2633472" cy="2194560"/>
            <a:chOff x="6080760" y="2423160"/>
            <a:chExt cx="2633472" cy="2194560"/>
          </a:xfrm>
        </p:grpSpPr>
        <p:sp>
          <p:nvSpPr>
            <p:cNvPr id="17" name="Shape 15"/>
            <p:cNvSpPr/>
            <p:nvPr/>
          </p:nvSpPr>
          <p:spPr>
            <a:xfrm>
              <a:off x="6080760" y="2423160"/>
              <a:ext cx="2633472" cy="2194560"/>
            </a:xfrm>
            <a:prstGeom prst="roundRect">
              <a:avLst>
                <a:gd name="adj" fmla="val 3333"/>
              </a:avLst>
            </a:prstGeom>
            <a:solidFill>
              <a:srgbClr val="FFFFFF"/>
            </a:solidFill>
            <a:ln w="12700">
              <a:solidFill>
                <a:srgbClr val="D8E4E8"/>
              </a:solidFill>
              <a:prstDash val="solid"/>
            </a:ln>
          </p:spPr>
        </p:sp>
        <p:sp>
          <p:nvSpPr>
            <p:cNvPr id="18" name="Shape 16"/>
            <p:cNvSpPr/>
            <p:nvPr/>
          </p:nvSpPr>
          <p:spPr>
            <a:xfrm>
              <a:off x="6080760" y="2423160"/>
              <a:ext cx="45720" cy="2194560"/>
            </a:xfrm>
            <a:prstGeom prst="rect">
              <a:avLst/>
            </a:prstGeom>
            <a:solidFill>
              <a:srgbClr val="2D4A6B"/>
            </a:solidFill>
            <a:ln w="12700">
              <a:solidFill>
                <a:srgbClr val="2D4A6B"/>
              </a:solidFill>
              <a:prstDash val="solid"/>
            </a:ln>
          </p:spPr>
        </p:sp>
      </p:grpSp>
      <p:sp>
        <p:nvSpPr>
          <p:cNvPr id="19" name="Text 17"/>
          <p:cNvSpPr/>
          <p:nvPr/>
        </p:nvSpPr>
        <p:spPr>
          <a:xfrm>
            <a:off x="6263640" y="2269998"/>
            <a:ext cx="2377440" cy="292608"/>
          </a:xfrm>
          <a:prstGeom prst="rect">
            <a:avLst/>
          </a:prstGeom>
          <a:noFill/>
          <a:ln/>
        </p:spPr>
        <p:txBody>
          <a:bodyPr wrap="square" rtlCol="0" anchor="ctr"/>
          <a:lstStyle/>
          <a:p>
            <a:pPr marL="0" indent="0">
              <a:buNone/>
            </a:pPr>
            <a:r>
              <a:rPr lang="en-US" sz="1400" b="1" dirty="0">
                <a:solidFill>
                  <a:srgbClr val="1C2B3A"/>
                </a:solidFill>
                <a:latin typeface="Calibri" pitchFamily="34" charset="0"/>
                <a:ea typeface="Calibri" pitchFamily="34" charset="-122"/>
                <a:cs typeface="Calibri" pitchFamily="34" charset="-120"/>
              </a:rPr>
              <a:t>No Transaction Context</a:t>
            </a:r>
            <a:endParaRPr lang="en-US" sz="1400" dirty="0"/>
          </a:p>
        </p:txBody>
      </p:sp>
      <p:sp>
        <p:nvSpPr>
          <p:cNvPr id="20" name="Text 18"/>
          <p:cNvSpPr/>
          <p:nvPr/>
        </p:nvSpPr>
        <p:spPr>
          <a:xfrm>
            <a:off x="6263640" y="2779776"/>
            <a:ext cx="2377440" cy="1190244"/>
          </a:xfrm>
          <a:prstGeom prst="rect">
            <a:avLst/>
          </a:prstGeom>
          <a:noFill/>
          <a:ln/>
        </p:spPr>
        <p:txBody>
          <a:bodyPr wrap="square" rtlCol="0" anchor="ctr"/>
          <a:lstStyle/>
          <a:p>
            <a:pPr marL="0" indent="0">
              <a:lnSpc>
                <a:spcPct val="135000"/>
              </a:lnSpc>
              <a:buNone/>
            </a:pPr>
            <a:r>
              <a:rPr lang="en-US" sz="1200" dirty="0">
                <a:solidFill>
                  <a:srgbClr val="4A6272"/>
                </a:solidFill>
                <a:latin typeface="Calibri" pitchFamily="34" charset="0"/>
                <a:ea typeface="Calibri" pitchFamily="34" charset="-122"/>
                <a:cs typeface="Calibri" pitchFamily="34" charset="-120"/>
              </a:rPr>
              <a:t>No transaction history/metadata behind</a:t>
            </a:r>
            <a:r>
              <a:rPr lang="en-US" sz="1200" dirty="0"/>
              <a:t> </a:t>
            </a:r>
            <a:r>
              <a:rPr lang="en-US" sz="1200" dirty="0">
                <a:solidFill>
                  <a:srgbClr val="4A6272"/>
                </a:solidFill>
                <a:latin typeface="Calibri" pitchFamily="34" charset="0"/>
                <a:ea typeface="Calibri" pitchFamily="34" charset="-122"/>
                <a:cs typeface="Calibri" pitchFamily="34" charset="-120"/>
              </a:rPr>
              <a:t>each rule which means investigators cannot</a:t>
            </a:r>
            <a:endParaRPr lang="en-US" sz="1200" dirty="0"/>
          </a:p>
          <a:p>
            <a:pPr marL="0" indent="0">
              <a:lnSpc>
                <a:spcPct val="135000"/>
              </a:lnSpc>
              <a:buNone/>
            </a:pPr>
            <a:r>
              <a:rPr lang="en-US" sz="1200" dirty="0">
                <a:solidFill>
                  <a:srgbClr val="4A6272"/>
                </a:solidFill>
                <a:latin typeface="Calibri" pitchFamily="34" charset="0"/>
                <a:ea typeface="Calibri" pitchFamily="34" charset="-122"/>
                <a:cs typeface="Calibri" pitchFamily="34" charset="-120"/>
              </a:rPr>
              <a:t>validate or challenge the alert</a:t>
            </a:r>
            <a:endParaRPr lang="en-US" sz="1200" dirty="0"/>
          </a:p>
        </p:txBody>
      </p:sp>
      <p:sp>
        <p:nvSpPr>
          <p:cNvPr id="21" name="Text 19"/>
          <p:cNvSpPr/>
          <p:nvPr/>
        </p:nvSpPr>
        <p:spPr>
          <a:xfrm>
            <a:off x="480060" y="4444365"/>
            <a:ext cx="8138160" cy="256032"/>
          </a:xfrm>
          <a:prstGeom prst="rect">
            <a:avLst/>
          </a:prstGeom>
          <a:noFill/>
          <a:ln/>
        </p:spPr>
        <p:txBody>
          <a:bodyPr wrap="square" rtlCol="0" anchor="ctr"/>
          <a:lstStyle/>
          <a:p>
            <a:pPr marL="0" indent="0">
              <a:buNone/>
            </a:pPr>
            <a:r>
              <a:rPr lang="en-US" sz="1200" b="1" i="1" kern="0" spc="50" dirty="0">
                <a:solidFill>
                  <a:srgbClr val="006D6F"/>
                </a:solidFill>
                <a:latin typeface="Calibri" pitchFamily="34" charset="0"/>
                <a:ea typeface="Calibri" pitchFamily="34" charset="-122"/>
                <a:cs typeface="Calibri" pitchFamily="34" charset="-120"/>
              </a:rPr>
              <a:t>KEY INSIGHT   Without explainability and metadata, even powerful fraud detection loses its investigative value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0" y="274320"/>
            <a:ext cx="3474720" cy="4389120"/>
          </a:xfrm>
          <a:prstGeom prst="rect">
            <a:avLst/>
          </a:prstGeom>
          <a:noFill/>
          <a:ln/>
        </p:spPr>
        <p:txBody>
          <a:bodyPr wrap="square" rtlCol="0" anchor="ctr"/>
          <a:lstStyle/>
          <a:p>
            <a:pPr marL="0" indent="0" algn="ctr">
              <a:buNone/>
            </a:pPr>
            <a:r>
              <a:rPr lang="en-US" sz="20000" b="1" dirty="0">
                <a:solidFill>
                  <a:srgbClr val="D0EAEB"/>
                </a:solidFill>
                <a:latin typeface="Calibri" pitchFamily="34" charset="0"/>
                <a:ea typeface="Calibri" pitchFamily="34" charset="-122"/>
                <a:cs typeface="Calibri" pitchFamily="34" charset="-120"/>
              </a:rPr>
              <a:t>04</a:t>
            </a:r>
            <a:endParaRPr lang="en-US" sz="20000" dirty="0"/>
          </a:p>
        </p:txBody>
      </p:sp>
      <p:sp>
        <p:nvSpPr>
          <p:cNvPr id="3" name="Shape 1"/>
          <p:cNvSpPr/>
          <p:nvPr/>
        </p:nvSpPr>
        <p:spPr>
          <a:xfrm>
            <a:off x="0" y="0"/>
            <a:ext cx="320040" cy="5143500"/>
          </a:xfrm>
          <a:prstGeom prst="rect">
            <a:avLst/>
          </a:prstGeom>
          <a:solidFill>
            <a:srgbClr val="006D6F"/>
          </a:solidFill>
          <a:ln w="12700">
            <a:solidFill>
              <a:srgbClr val="006D6F"/>
            </a:solidFill>
            <a:prstDash val="solid"/>
          </a:ln>
        </p:spPr>
      </p:sp>
      <p:sp>
        <p:nvSpPr>
          <p:cNvPr id="4" name="Text 2"/>
          <p:cNvSpPr/>
          <p:nvPr/>
        </p:nvSpPr>
        <p:spPr>
          <a:xfrm>
            <a:off x="448056" y="146304"/>
            <a:ext cx="3657600" cy="201168"/>
          </a:xfrm>
          <a:prstGeom prst="rect">
            <a:avLst/>
          </a:prstGeom>
          <a:noFill/>
          <a:ln/>
        </p:spPr>
        <p:txBody>
          <a:bodyPr wrap="square" rtlCol="0" anchor="ctr"/>
          <a:lstStyle/>
          <a:p>
            <a:r>
              <a:rPr lang="en-US" sz="1400" b="1" kern="0" spc="200" dirty="0">
                <a:solidFill>
                  <a:srgbClr val="006D6F"/>
                </a:solidFill>
                <a:ea typeface="Calibri" pitchFamily="34" charset="-122"/>
                <a:cs typeface="Calibri" pitchFamily="34" charset="-120"/>
              </a:rPr>
              <a:t>THE SOLUTION</a:t>
            </a:r>
          </a:p>
        </p:txBody>
      </p:sp>
      <p:sp>
        <p:nvSpPr>
          <p:cNvPr id="5" name="Text 3"/>
          <p:cNvSpPr/>
          <p:nvPr/>
        </p:nvSpPr>
        <p:spPr>
          <a:xfrm>
            <a:off x="448056" y="338328"/>
            <a:ext cx="7772400" cy="777240"/>
          </a:xfrm>
          <a:prstGeom prst="rect">
            <a:avLst/>
          </a:prstGeom>
          <a:noFill/>
          <a:ln/>
        </p:spPr>
        <p:txBody>
          <a:bodyPr wrap="square" rtlCol="0" anchor="ctr"/>
          <a:lstStyle/>
          <a:p>
            <a:pPr marL="0" indent="0">
              <a:buNone/>
            </a:pPr>
            <a:r>
              <a:rPr lang="en-US" sz="2800" b="1" dirty="0">
                <a:solidFill>
                  <a:srgbClr val="1C2B3A"/>
                </a:solidFill>
                <a:latin typeface="Calibri" pitchFamily="34" charset="0"/>
                <a:ea typeface="Calibri" pitchFamily="34" charset="-122"/>
                <a:cs typeface="Calibri" pitchFamily="34" charset="-120"/>
              </a:rPr>
              <a:t>Alert Navigator + Rule Trigger Discovery</a:t>
            </a:r>
            <a:endParaRPr lang="en-US" sz="2800" dirty="0"/>
          </a:p>
        </p:txBody>
      </p:sp>
      <p:grpSp>
        <p:nvGrpSpPr>
          <p:cNvPr id="28" name="Group 27">
            <a:extLst>
              <a:ext uri="{FF2B5EF4-FFF2-40B4-BE49-F238E27FC236}">
                <a16:creationId xmlns:a16="http://schemas.microsoft.com/office/drawing/2014/main" id="{296615A9-F787-F3C6-C7D2-31F17EBC016E}"/>
              </a:ext>
            </a:extLst>
          </p:cNvPr>
          <p:cNvGrpSpPr/>
          <p:nvPr/>
        </p:nvGrpSpPr>
        <p:grpSpPr>
          <a:xfrm>
            <a:off x="502920" y="1036320"/>
            <a:ext cx="8138160" cy="594360"/>
            <a:chOff x="502920" y="1508760"/>
            <a:chExt cx="8138160" cy="594360"/>
          </a:xfrm>
        </p:grpSpPr>
        <p:sp>
          <p:nvSpPr>
            <p:cNvPr id="6" name="Shape 4"/>
            <p:cNvSpPr/>
            <p:nvPr/>
          </p:nvSpPr>
          <p:spPr>
            <a:xfrm>
              <a:off x="502920" y="1508760"/>
              <a:ext cx="8138160" cy="594360"/>
            </a:xfrm>
            <a:prstGeom prst="rect">
              <a:avLst/>
            </a:prstGeom>
            <a:solidFill>
              <a:srgbClr val="E8F4F5"/>
            </a:solidFill>
            <a:ln w="12700">
              <a:solidFill>
                <a:srgbClr val="D0EAEB"/>
              </a:solidFill>
              <a:prstDash val="solid"/>
            </a:ln>
          </p:spPr>
        </p:sp>
        <p:sp>
          <p:nvSpPr>
            <p:cNvPr id="7" name="Shape 5"/>
            <p:cNvSpPr/>
            <p:nvPr/>
          </p:nvSpPr>
          <p:spPr>
            <a:xfrm>
              <a:off x="502920" y="1508760"/>
              <a:ext cx="45720" cy="594360"/>
            </a:xfrm>
            <a:prstGeom prst="rect">
              <a:avLst/>
            </a:prstGeom>
            <a:solidFill>
              <a:srgbClr val="006D6F"/>
            </a:solidFill>
            <a:ln w="12700">
              <a:solidFill>
                <a:srgbClr val="006D6F"/>
              </a:solidFill>
              <a:prstDash val="solid"/>
            </a:ln>
          </p:spPr>
        </p:sp>
        <p:sp>
          <p:nvSpPr>
            <p:cNvPr id="8" name="Text 6"/>
            <p:cNvSpPr/>
            <p:nvPr/>
          </p:nvSpPr>
          <p:spPr>
            <a:xfrm>
              <a:off x="685800" y="1508760"/>
              <a:ext cx="7818120" cy="594360"/>
            </a:xfrm>
            <a:prstGeom prst="rect">
              <a:avLst/>
            </a:prstGeom>
            <a:noFill/>
            <a:ln/>
          </p:spPr>
          <p:txBody>
            <a:bodyPr wrap="square" rtlCol="0" anchor="ctr"/>
            <a:lstStyle/>
            <a:p>
              <a:pPr marL="0" indent="0">
                <a:buNone/>
              </a:pPr>
              <a:r>
                <a:rPr lang="en-US" sz="1200" dirty="0">
                  <a:solidFill>
                    <a:srgbClr val="4A6272"/>
                  </a:solidFill>
                  <a:latin typeface="Calibri" pitchFamily="34" charset="0"/>
                  <a:ea typeface="Calibri" pitchFamily="34" charset="-122"/>
                  <a:cs typeface="Calibri" pitchFamily="34" charset="-120"/>
                </a:rPr>
                <a:t>Allows investigators to immediately identify the specific behavior attributes and constituent transactions or metadata that triggered each rule, eliminating the need to manually search through a participant's entire transaction history.</a:t>
              </a:r>
              <a:endParaRPr lang="en-US" sz="1200" dirty="0"/>
            </a:p>
          </p:txBody>
        </p:sp>
      </p:grpSp>
      <p:sp>
        <p:nvSpPr>
          <p:cNvPr id="13" name="Shape 11"/>
          <p:cNvSpPr/>
          <p:nvPr/>
        </p:nvSpPr>
        <p:spPr>
          <a:xfrm>
            <a:off x="667512" y="3200400"/>
            <a:ext cx="548640" cy="16459"/>
          </a:xfrm>
          <a:prstGeom prst="rect">
            <a:avLst/>
          </a:prstGeom>
          <a:solidFill>
            <a:srgbClr val="D8E4E8"/>
          </a:solidFill>
          <a:ln w="12700">
            <a:solidFill>
              <a:srgbClr val="D8E4E8"/>
            </a:solidFill>
            <a:prstDash val="solid"/>
          </a:ln>
        </p:spPr>
      </p:sp>
      <p:grpSp>
        <p:nvGrpSpPr>
          <p:cNvPr id="29" name="Group 28">
            <a:extLst>
              <a:ext uri="{FF2B5EF4-FFF2-40B4-BE49-F238E27FC236}">
                <a16:creationId xmlns:a16="http://schemas.microsoft.com/office/drawing/2014/main" id="{6313F991-E244-7FAC-0CDA-9E0D5B969649}"/>
              </a:ext>
            </a:extLst>
          </p:cNvPr>
          <p:cNvGrpSpPr/>
          <p:nvPr/>
        </p:nvGrpSpPr>
        <p:grpSpPr>
          <a:xfrm>
            <a:off x="502920" y="1877568"/>
            <a:ext cx="2633472" cy="2514600"/>
            <a:chOff x="502920" y="2267712"/>
            <a:chExt cx="2633472" cy="2514600"/>
          </a:xfrm>
        </p:grpSpPr>
        <p:sp>
          <p:nvSpPr>
            <p:cNvPr id="9" name="Shape 7"/>
            <p:cNvSpPr/>
            <p:nvPr/>
          </p:nvSpPr>
          <p:spPr>
            <a:xfrm>
              <a:off x="502920" y="2267712"/>
              <a:ext cx="2633472" cy="2514600"/>
            </a:xfrm>
            <a:prstGeom prst="roundRect">
              <a:avLst>
                <a:gd name="adj" fmla="val 2909"/>
              </a:avLst>
            </a:prstGeom>
            <a:solidFill>
              <a:srgbClr val="FFFFFF"/>
            </a:solidFill>
            <a:ln w="12700">
              <a:solidFill>
                <a:srgbClr val="D8E4E8"/>
              </a:solidFill>
              <a:prstDash val="solid"/>
            </a:ln>
          </p:spPr>
        </p:sp>
        <p:sp>
          <p:nvSpPr>
            <p:cNvPr id="10" name="Shape 8"/>
            <p:cNvSpPr/>
            <p:nvPr/>
          </p:nvSpPr>
          <p:spPr>
            <a:xfrm>
              <a:off x="502920" y="2267712"/>
              <a:ext cx="2633472" cy="54864"/>
            </a:xfrm>
            <a:prstGeom prst="rect">
              <a:avLst/>
            </a:prstGeom>
            <a:solidFill>
              <a:srgbClr val="006D6F"/>
            </a:solidFill>
            <a:ln w="12700">
              <a:solidFill>
                <a:srgbClr val="006D6F"/>
              </a:solidFill>
              <a:prstDash val="solid"/>
            </a:ln>
          </p:spPr>
        </p:sp>
        <p:sp>
          <p:nvSpPr>
            <p:cNvPr id="11" name="Text 9"/>
            <p:cNvSpPr/>
            <p:nvPr/>
          </p:nvSpPr>
          <p:spPr>
            <a:xfrm>
              <a:off x="667512" y="2395728"/>
              <a:ext cx="594360" cy="411480"/>
            </a:xfrm>
            <a:prstGeom prst="rect">
              <a:avLst/>
            </a:prstGeom>
            <a:noFill/>
            <a:ln/>
          </p:spPr>
          <p:txBody>
            <a:bodyPr wrap="square" rtlCol="0" anchor="ctr"/>
            <a:lstStyle/>
            <a:p>
              <a:pPr marL="0" indent="0">
                <a:buNone/>
              </a:pPr>
              <a:r>
                <a:rPr lang="en-US" sz="2000" b="1" kern="0" spc="100" dirty="0">
                  <a:solidFill>
                    <a:srgbClr val="006D6F"/>
                  </a:solidFill>
                  <a:latin typeface="Calibri" pitchFamily="34" charset="0"/>
                  <a:ea typeface="Calibri" pitchFamily="34" charset="-122"/>
                  <a:cs typeface="Calibri" pitchFamily="34" charset="-120"/>
                </a:rPr>
                <a:t>01</a:t>
              </a:r>
              <a:endParaRPr lang="en-US" sz="2000" dirty="0"/>
            </a:p>
          </p:txBody>
        </p:sp>
        <p:sp>
          <p:nvSpPr>
            <p:cNvPr id="12" name="Text 10"/>
            <p:cNvSpPr/>
            <p:nvPr/>
          </p:nvSpPr>
          <p:spPr>
            <a:xfrm>
              <a:off x="667512" y="2834640"/>
              <a:ext cx="2286000" cy="347472"/>
            </a:xfrm>
            <a:prstGeom prst="rect">
              <a:avLst/>
            </a:prstGeom>
            <a:noFill/>
            <a:ln/>
          </p:spPr>
          <p:txBody>
            <a:bodyPr wrap="square" rtlCol="0" anchor="ctr"/>
            <a:lstStyle/>
            <a:p>
              <a:pPr marL="0" indent="0">
                <a:buNone/>
              </a:pPr>
              <a:r>
                <a:rPr lang="en-US" sz="1400" b="1" dirty="0">
                  <a:solidFill>
                    <a:srgbClr val="1C2B3A"/>
                  </a:solidFill>
                  <a:latin typeface="Calibri" pitchFamily="34" charset="0"/>
                  <a:ea typeface="Calibri" pitchFamily="34" charset="-122"/>
                  <a:cs typeface="Calibri" pitchFamily="34" charset="-120"/>
                </a:rPr>
                <a:t>Alert Navigator</a:t>
              </a:r>
              <a:endParaRPr lang="en-US" sz="1400" dirty="0"/>
            </a:p>
          </p:txBody>
        </p:sp>
        <p:sp>
          <p:nvSpPr>
            <p:cNvPr id="14" name="Text 12"/>
            <p:cNvSpPr/>
            <p:nvPr/>
          </p:nvSpPr>
          <p:spPr>
            <a:xfrm>
              <a:off x="667512" y="3310128"/>
              <a:ext cx="2304288" cy="1261872"/>
            </a:xfrm>
            <a:prstGeom prst="rect">
              <a:avLst/>
            </a:prstGeom>
            <a:noFill/>
            <a:ln/>
          </p:spPr>
          <p:txBody>
            <a:bodyPr wrap="square" rtlCol="0" anchor="ctr"/>
            <a:lstStyle/>
            <a:p>
              <a:pPr marL="0" indent="0">
                <a:lnSpc>
                  <a:spcPct val="140000"/>
                </a:lnSpc>
                <a:buNone/>
              </a:pPr>
              <a:r>
                <a:rPr lang="en-US" sz="1200" dirty="0">
                  <a:solidFill>
                    <a:srgbClr val="4A6272"/>
                  </a:solidFill>
                  <a:latin typeface="Calibri" pitchFamily="34" charset="0"/>
                  <a:ea typeface="Calibri" pitchFamily="34" charset="-122"/>
                  <a:cs typeface="Calibri" pitchFamily="34" charset="-120"/>
                </a:rPr>
                <a:t>Searchable dropdown across all tenants. Filter by ALRT or NALT, tenant, amount and timestamp. Select any alert to begin investigation.</a:t>
              </a:r>
              <a:endParaRPr lang="en-US" sz="1200" dirty="0"/>
            </a:p>
          </p:txBody>
        </p:sp>
      </p:grpSp>
      <p:sp>
        <p:nvSpPr>
          <p:cNvPr id="19" name="Shape 17"/>
          <p:cNvSpPr/>
          <p:nvPr/>
        </p:nvSpPr>
        <p:spPr>
          <a:xfrm>
            <a:off x="3456432" y="3200400"/>
            <a:ext cx="548640" cy="16459"/>
          </a:xfrm>
          <a:prstGeom prst="rect">
            <a:avLst/>
          </a:prstGeom>
          <a:solidFill>
            <a:srgbClr val="D8E4E8"/>
          </a:solidFill>
          <a:ln w="12700">
            <a:solidFill>
              <a:srgbClr val="D8E4E8"/>
            </a:solidFill>
            <a:prstDash val="solid"/>
          </a:ln>
        </p:spPr>
      </p:sp>
      <p:grpSp>
        <p:nvGrpSpPr>
          <p:cNvPr id="30" name="Group 29">
            <a:extLst>
              <a:ext uri="{FF2B5EF4-FFF2-40B4-BE49-F238E27FC236}">
                <a16:creationId xmlns:a16="http://schemas.microsoft.com/office/drawing/2014/main" id="{9D2A337A-1E8A-7566-904C-979105D5088D}"/>
              </a:ext>
            </a:extLst>
          </p:cNvPr>
          <p:cNvGrpSpPr/>
          <p:nvPr/>
        </p:nvGrpSpPr>
        <p:grpSpPr>
          <a:xfrm>
            <a:off x="3291840" y="1885493"/>
            <a:ext cx="2633472" cy="2514600"/>
            <a:chOff x="3291840" y="2267712"/>
            <a:chExt cx="2633472" cy="2514600"/>
          </a:xfrm>
        </p:grpSpPr>
        <p:sp>
          <p:nvSpPr>
            <p:cNvPr id="15" name="Shape 13"/>
            <p:cNvSpPr/>
            <p:nvPr/>
          </p:nvSpPr>
          <p:spPr>
            <a:xfrm>
              <a:off x="3291840" y="2267712"/>
              <a:ext cx="2633472" cy="2514600"/>
            </a:xfrm>
            <a:prstGeom prst="roundRect">
              <a:avLst>
                <a:gd name="adj" fmla="val 2909"/>
              </a:avLst>
            </a:prstGeom>
            <a:solidFill>
              <a:srgbClr val="FFFFFF"/>
            </a:solidFill>
            <a:ln w="12700">
              <a:solidFill>
                <a:srgbClr val="D8E4E8"/>
              </a:solidFill>
              <a:prstDash val="solid"/>
            </a:ln>
          </p:spPr>
        </p:sp>
        <p:sp>
          <p:nvSpPr>
            <p:cNvPr id="16" name="Shape 14"/>
            <p:cNvSpPr/>
            <p:nvPr/>
          </p:nvSpPr>
          <p:spPr>
            <a:xfrm>
              <a:off x="3291840" y="2267712"/>
              <a:ext cx="2633472" cy="54864"/>
            </a:xfrm>
            <a:prstGeom prst="rect">
              <a:avLst/>
            </a:prstGeom>
            <a:solidFill>
              <a:srgbClr val="2D4A6B"/>
            </a:solidFill>
            <a:ln w="12700">
              <a:solidFill>
                <a:srgbClr val="2D4A6B"/>
              </a:solidFill>
              <a:prstDash val="solid"/>
            </a:ln>
          </p:spPr>
        </p:sp>
        <p:sp>
          <p:nvSpPr>
            <p:cNvPr id="17" name="Text 15"/>
            <p:cNvSpPr/>
            <p:nvPr/>
          </p:nvSpPr>
          <p:spPr>
            <a:xfrm>
              <a:off x="3456432" y="2395728"/>
              <a:ext cx="594360" cy="411480"/>
            </a:xfrm>
            <a:prstGeom prst="rect">
              <a:avLst/>
            </a:prstGeom>
            <a:noFill/>
            <a:ln/>
          </p:spPr>
          <p:txBody>
            <a:bodyPr wrap="square" rtlCol="0" anchor="ctr"/>
            <a:lstStyle/>
            <a:p>
              <a:pPr marL="0" indent="0">
                <a:buNone/>
              </a:pPr>
              <a:r>
                <a:rPr lang="en-US" sz="2000" b="1" kern="0" spc="100" dirty="0">
                  <a:solidFill>
                    <a:srgbClr val="2D4A6B"/>
                  </a:solidFill>
                  <a:latin typeface="Calibri" pitchFamily="34" charset="0"/>
                  <a:ea typeface="Calibri" pitchFamily="34" charset="-122"/>
                  <a:cs typeface="Calibri" pitchFamily="34" charset="-120"/>
                </a:rPr>
                <a:t>02</a:t>
              </a:r>
              <a:endParaRPr lang="en-US" sz="2000" dirty="0"/>
            </a:p>
          </p:txBody>
        </p:sp>
        <p:sp>
          <p:nvSpPr>
            <p:cNvPr id="18" name="Text 16"/>
            <p:cNvSpPr/>
            <p:nvPr/>
          </p:nvSpPr>
          <p:spPr>
            <a:xfrm>
              <a:off x="3456432" y="2834640"/>
              <a:ext cx="2286000" cy="347472"/>
            </a:xfrm>
            <a:prstGeom prst="rect">
              <a:avLst/>
            </a:prstGeom>
            <a:noFill/>
            <a:ln/>
          </p:spPr>
          <p:txBody>
            <a:bodyPr wrap="square" rtlCol="0" anchor="ctr"/>
            <a:lstStyle/>
            <a:p>
              <a:pPr marL="0" indent="0">
                <a:buNone/>
              </a:pPr>
              <a:r>
                <a:rPr lang="en-US" sz="1400" b="1" dirty="0">
                  <a:solidFill>
                    <a:srgbClr val="1C2B3A"/>
                  </a:solidFill>
                  <a:latin typeface="Calibri" pitchFamily="34" charset="0"/>
                  <a:ea typeface="Calibri" pitchFamily="34" charset="-122"/>
                  <a:cs typeface="Calibri" pitchFamily="34" charset="-120"/>
                </a:rPr>
                <a:t>Evaluation Explorer</a:t>
              </a:r>
              <a:endParaRPr lang="en-US" sz="1400" dirty="0"/>
            </a:p>
          </p:txBody>
        </p:sp>
        <p:sp>
          <p:nvSpPr>
            <p:cNvPr id="20" name="Text 18"/>
            <p:cNvSpPr/>
            <p:nvPr/>
          </p:nvSpPr>
          <p:spPr>
            <a:xfrm>
              <a:off x="3456432" y="3310128"/>
              <a:ext cx="2304288" cy="947319"/>
            </a:xfrm>
            <a:prstGeom prst="rect">
              <a:avLst/>
            </a:prstGeom>
            <a:noFill/>
            <a:ln/>
          </p:spPr>
          <p:txBody>
            <a:bodyPr wrap="square" rtlCol="0" anchor="ctr"/>
            <a:lstStyle/>
            <a:p>
              <a:pPr marL="0" indent="0">
                <a:lnSpc>
                  <a:spcPct val="140000"/>
                </a:lnSpc>
                <a:buNone/>
              </a:pPr>
              <a:r>
                <a:rPr lang="en-US" sz="1200" dirty="0">
                  <a:solidFill>
                    <a:srgbClr val="4A6272"/>
                  </a:solidFill>
                  <a:latin typeface="Calibri" pitchFamily="34" charset="0"/>
                  <a:ea typeface="Calibri" pitchFamily="34" charset="-122"/>
                  <a:cs typeface="Calibri" pitchFamily="34" charset="-120"/>
                </a:rPr>
                <a:t>Shows all 31 typologies evaluated for the alert, scores vs thresholds, and which ones breached - read from the evaluation result.</a:t>
              </a:r>
              <a:endParaRPr lang="en-US" sz="1200" dirty="0"/>
            </a:p>
          </p:txBody>
        </p:sp>
      </p:grpSp>
      <p:sp>
        <p:nvSpPr>
          <p:cNvPr id="25" name="Shape 23"/>
          <p:cNvSpPr/>
          <p:nvPr/>
        </p:nvSpPr>
        <p:spPr>
          <a:xfrm>
            <a:off x="6245352" y="3200400"/>
            <a:ext cx="548640" cy="16459"/>
          </a:xfrm>
          <a:prstGeom prst="rect">
            <a:avLst/>
          </a:prstGeom>
          <a:solidFill>
            <a:srgbClr val="D8E4E8"/>
          </a:solidFill>
          <a:ln w="12700">
            <a:solidFill>
              <a:srgbClr val="D8E4E8"/>
            </a:solidFill>
            <a:prstDash val="solid"/>
          </a:ln>
        </p:spPr>
      </p:sp>
      <p:grpSp>
        <p:nvGrpSpPr>
          <p:cNvPr id="31" name="Group 30">
            <a:extLst>
              <a:ext uri="{FF2B5EF4-FFF2-40B4-BE49-F238E27FC236}">
                <a16:creationId xmlns:a16="http://schemas.microsoft.com/office/drawing/2014/main" id="{712D990E-7721-35C2-A40B-654B15499BCB}"/>
              </a:ext>
            </a:extLst>
          </p:cNvPr>
          <p:cNvGrpSpPr/>
          <p:nvPr/>
        </p:nvGrpSpPr>
        <p:grpSpPr>
          <a:xfrm>
            <a:off x="6080760" y="1877568"/>
            <a:ext cx="2633472" cy="2514600"/>
            <a:chOff x="6080760" y="2267712"/>
            <a:chExt cx="2633472" cy="2514600"/>
          </a:xfrm>
        </p:grpSpPr>
        <p:sp>
          <p:nvSpPr>
            <p:cNvPr id="21" name="Shape 19"/>
            <p:cNvSpPr/>
            <p:nvPr/>
          </p:nvSpPr>
          <p:spPr>
            <a:xfrm>
              <a:off x="6080760" y="2267712"/>
              <a:ext cx="2633472" cy="2514600"/>
            </a:xfrm>
            <a:prstGeom prst="roundRect">
              <a:avLst>
                <a:gd name="adj" fmla="val 2909"/>
              </a:avLst>
            </a:prstGeom>
            <a:solidFill>
              <a:srgbClr val="FFFFFF"/>
            </a:solidFill>
            <a:ln w="12700">
              <a:solidFill>
                <a:srgbClr val="D8E4E8"/>
              </a:solidFill>
              <a:prstDash val="solid"/>
            </a:ln>
          </p:spPr>
        </p:sp>
        <p:sp>
          <p:nvSpPr>
            <p:cNvPr id="22" name="Shape 20"/>
            <p:cNvSpPr/>
            <p:nvPr/>
          </p:nvSpPr>
          <p:spPr>
            <a:xfrm>
              <a:off x="6080760" y="2267712"/>
              <a:ext cx="2633472" cy="54864"/>
            </a:xfrm>
            <a:prstGeom prst="rect">
              <a:avLst/>
            </a:prstGeom>
            <a:solidFill>
              <a:srgbClr val="006D6F"/>
            </a:solidFill>
            <a:ln w="12700">
              <a:solidFill>
                <a:srgbClr val="006D6F"/>
              </a:solidFill>
              <a:prstDash val="solid"/>
            </a:ln>
          </p:spPr>
        </p:sp>
        <p:sp>
          <p:nvSpPr>
            <p:cNvPr id="23" name="Text 21"/>
            <p:cNvSpPr/>
            <p:nvPr/>
          </p:nvSpPr>
          <p:spPr>
            <a:xfrm>
              <a:off x="6245352" y="2395728"/>
              <a:ext cx="594360" cy="411480"/>
            </a:xfrm>
            <a:prstGeom prst="rect">
              <a:avLst/>
            </a:prstGeom>
            <a:noFill/>
            <a:ln/>
          </p:spPr>
          <p:txBody>
            <a:bodyPr wrap="square" rtlCol="0" anchor="ctr"/>
            <a:lstStyle/>
            <a:p>
              <a:pPr marL="0" indent="0">
                <a:buNone/>
              </a:pPr>
              <a:r>
                <a:rPr lang="en-US" sz="2000" b="1" kern="0" spc="100" dirty="0">
                  <a:solidFill>
                    <a:srgbClr val="006D6F"/>
                  </a:solidFill>
                  <a:latin typeface="Calibri" pitchFamily="34" charset="0"/>
                  <a:ea typeface="Calibri" pitchFamily="34" charset="-122"/>
                  <a:cs typeface="Calibri" pitchFamily="34" charset="-120"/>
                </a:rPr>
                <a:t>03</a:t>
              </a:r>
              <a:endParaRPr lang="en-US" sz="2000" dirty="0"/>
            </a:p>
          </p:txBody>
        </p:sp>
        <p:sp>
          <p:nvSpPr>
            <p:cNvPr id="24" name="Text 22"/>
            <p:cNvSpPr/>
            <p:nvPr/>
          </p:nvSpPr>
          <p:spPr>
            <a:xfrm>
              <a:off x="6245352" y="2834640"/>
              <a:ext cx="2286000" cy="347472"/>
            </a:xfrm>
            <a:prstGeom prst="rect">
              <a:avLst/>
            </a:prstGeom>
            <a:noFill/>
            <a:ln/>
          </p:spPr>
          <p:txBody>
            <a:bodyPr wrap="square" rtlCol="0" anchor="ctr"/>
            <a:lstStyle/>
            <a:p>
              <a:pPr marL="0" indent="0">
                <a:buNone/>
              </a:pPr>
              <a:r>
                <a:rPr lang="en-US" sz="1400" b="1" dirty="0">
                  <a:solidFill>
                    <a:srgbClr val="1C2B3A"/>
                  </a:solidFill>
                  <a:latin typeface="Calibri" pitchFamily="34" charset="0"/>
                  <a:ea typeface="Calibri" pitchFamily="34" charset="-122"/>
                  <a:cs typeface="Calibri" pitchFamily="34" charset="-120"/>
                </a:rPr>
                <a:t>Rule Trigger Discovery</a:t>
              </a:r>
              <a:endParaRPr lang="en-US" sz="1400" dirty="0"/>
            </a:p>
          </p:txBody>
        </p:sp>
        <p:sp>
          <p:nvSpPr>
            <p:cNvPr id="26" name="Text 24"/>
            <p:cNvSpPr/>
            <p:nvPr/>
          </p:nvSpPr>
          <p:spPr>
            <a:xfrm>
              <a:off x="6245352" y="3310128"/>
              <a:ext cx="2304288" cy="1187196"/>
            </a:xfrm>
            <a:prstGeom prst="rect">
              <a:avLst/>
            </a:prstGeom>
            <a:noFill/>
            <a:ln/>
          </p:spPr>
          <p:txBody>
            <a:bodyPr wrap="square" rtlCol="0" anchor="ctr"/>
            <a:lstStyle/>
            <a:p>
              <a:pPr marL="0" indent="0">
                <a:lnSpc>
                  <a:spcPct val="140000"/>
                </a:lnSpc>
                <a:buNone/>
              </a:pPr>
              <a:r>
                <a:rPr lang="en-US" sz="1200" dirty="0">
                  <a:solidFill>
                    <a:srgbClr val="4A6272"/>
                  </a:solidFill>
                  <a:latin typeface="Calibri" pitchFamily="34" charset="0"/>
                  <a:ea typeface="Calibri" pitchFamily="34" charset="-122"/>
                  <a:cs typeface="Calibri" pitchFamily="34" charset="-120"/>
                </a:rPr>
                <a:t>Replays rule queries against live transaction data. Displays the independent variable, band classification, thresholds and full transaction history.</a:t>
              </a:r>
              <a:endParaRPr lang="en-US" sz="1200" dirty="0"/>
            </a:p>
          </p:txBody>
        </p:sp>
      </p:grpSp>
      <p:sp>
        <p:nvSpPr>
          <p:cNvPr id="27" name="Text 25"/>
          <p:cNvSpPr/>
          <p:nvPr/>
        </p:nvSpPr>
        <p:spPr>
          <a:xfrm>
            <a:off x="448056" y="4536033"/>
            <a:ext cx="8138160" cy="256032"/>
          </a:xfrm>
          <a:prstGeom prst="rect">
            <a:avLst/>
          </a:prstGeom>
          <a:noFill/>
          <a:ln/>
        </p:spPr>
        <p:txBody>
          <a:bodyPr wrap="square" rtlCol="0" anchor="ctr"/>
          <a:lstStyle/>
          <a:p>
            <a:pPr marL="0" indent="0">
              <a:buNone/>
            </a:pPr>
            <a:r>
              <a:rPr lang="en-US" sz="1200" b="1" i="1" kern="0" spc="50" dirty="0">
                <a:solidFill>
                  <a:srgbClr val="006D6F"/>
                </a:solidFill>
                <a:latin typeface="Calibri" pitchFamily="34" charset="0"/>
                <a:ea typeface="Calibri" pitchFamily="34" charset="-122"/>
                <a:cs typeface="Calibri" pitchFamily="34" charset="-120"/>
              </a:rPr>
              <a:t>IMPACT: The visualization takes the investigator from binary ALRT to a full investigative picture  in one notebook</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0" y="274320"/>
            <a:ext cx="3474720" cy="4389120"/>
          </a:xfrm>
          <a:prstGeom prst="rect">
            <a:avLst/>
          </a:prstGeom>
          <a:noFill/>
          <a:ln/>
        </p:spPr>
        <p:txBody>
          <a:bodyPr wrap="square" rtlCol="0" anchor="ctr"/>
          <a:lstStyle/>
          <a:p>
            <a:pPr marL="0" indent="0" algn="ctr">
              <a:buNone/>
            </a:pPr>
            <a:r>
              <a:rPr lang="en-US" sz="20000" b="1" dirty="0">
                <a:solidFill>
                  <a:srgbClr val="D0EAEB"/>
                </a:solidFill>
                <a:latin typeface="Calibri" pitchFamily="34" charset="0"/>
                <a:ea typeface="Calibri" pitchFamily="34" charset="-122"/>
                <a:cs typeface="Calibri" pitchFamily="34" charset="-120"/>
              </a:rPr>
              <a:t>05</a:t>
            </a:r>
            <a:endParaRPr lang="en-US" sz="20000" dirty="0"/>
          </a:p>
        </p:txBody>
      </p:sp>
      <p:sp>
        <p:nvSpPr>
          <p:cNvPr id="3" name="Shape 1"/>
          <p:cNvSpPr/>
          <p:nvPr/>
        </p:nvSpPr>
        <p:spPr>
          <a:xfrm>
            <a:off x="0" y="0"/>
            <a:ext cx="320040" cy="5143500"/>
          </a:xfrm>
          <a:prstGeom prst="rect">
            <a:avLst/>
          </a:prstGeom>
          <a:solidFill>
            <a:srgbClr val="006D6F"/>
          </a:solidFill>
          <a:ln w="12700">
            <a:solidFill>
              <a:srgbClr val="006D6F"/>
            </a:solidFill>
            <a:prstDash val="solid"/>
          </a:ln>
        </p:spPr>
      </p:sp>
      <p:sp>
        <p:nvSpPr>
          <p:cNvPr id="4" name="Text 2"/>
          <p:cNvSpPr/>
          <p:nvPr/>
        </p:nvSpPr>
        <p:spPr>
          <a:xfrm>
            <a:off x="448056" y="146304"/>
            <a:ext cx="3657600" cy="201168"/>
          </a:xfrm>
          <a:prstGeom prst="rect">
            <a:avLst/>
          </a:prstGeom>
          <a:noFill/>
          <a:ln/>
        </p:spPr>
        <p:txBody>
          <a:bodyPr wrap="square" rtlCol="0" anchor="ctr"/>
          <a:lstStyle/>
          <a:p>
            <a:r>
              <a:rPr lang="en-US" sz="1400" b="1" kern="0" spc="200" dirty="0">
                <a:solidFill>
                  <a:srgbClr val="006D6F"/>
                </a:solidFill>
                <a:ea typeface="Calibri" pitchFamily="34" charset="-122"/>
                <a:cs typeface="Calibri" pitchFamily="34" charset="-120"/>
              </a:rPr>
              <a:t>THE LIVE DEMO</a:t>
            </a:r>
          </a:p>
        </p:txBody>
      </p:sp>
      <p:sp>
        <p:nvSpPr>
          <p:cNvPr id="5" name="Text 3"/>
          <p:cNvSpPr/>
          <p:nvPr/>
        </p:nvSpPr>
        <p:spPr>
          <a:xfrm>
            <a:off x="448056" y="338328"/>
            <a:ext cx="7772400" cy="777240"/>
          </a:xfrm>
          <a:prstGeom prst="rect">
            <a:avLst/>
          </a:prstGeom>
          <a:noFill/>
          <a:ln/>
        </p:spPr>
        <p:txBody>
          <a:bodyPr wrap="square" rtlCol="0" anchor="ctr"/>
          <a:lstStyle/>
          <a:p>
            <a:pPr marL="0" indent="0">
              <a:buNone/>
            </a:pPr>
            <a:r>
              <a:rPr lang="en-US" sz="2800" b="1" dirty="0">
                <a:solidFill>
                  <a:srgbClr val="1C2B3A"/>
                </a:solidFill>
                <a:latin typeface="Calibri" pitchFamily="34" charset="0"/>
                <a:ea typeface="Calibri" pitchFamily="34" charset="-122"/>
                <a:cs typeface="Calibri" pitchFamily="34" charset="-120"/>
              </a:rPr>
              <a:t>Alert Navigator + Rule Trigger Discovery</a:t>
            </a:r>
            <a:endParaRPr lang="en-US" sz="2800" dirty="0"/>
          </a:p>
        </p:txBody>
      </p:sp>
      <p:sp>
        <p:nvSpPr>
          <p:cNvPr id="13" name="Shape 11"/>
          <p:cNvSpPr/>
          <p:nvPr/>
        </p:nvSpPr>
        <p:spPr>
          <a:xfrm>
            <a:off x="667512" y="3200400"/>
            <a:ext cx="548640" cy="16459"/>
          </a:xfrm>
          <a:prstGeom prst="rect">
            <a:avLst/>
          </a:prstGeom>
          <a:solidFill>
            <a:srgbClr val="D8E4E8"/>
          </a:solidFill>
          <a:ln w="12700">
            <a:solidFill>
              <a:srgbClr val="D8E4E8"/>
            </a:solidFill>
            <a:prstDash val="solid"/>
          </a:ln>
        </p:spPr>
      </p:sp>
      <p:sp>
        <p:nvSpPr>
          <p:cNvPr id="19" name="Shape 17"/>
          <p:cNvSpPr/>
          <p:nvPr/>
        </p:nvSpPr>
        <p:spPr>
          <a:xfrm>
            <a:off x="3456432" y="3200400"/>
            <a:ext cx="548640" cy="16459"/>
          </a:xfrm>
          <a:prstGeom prst="rect">
            <a:avLst/>
          </a:prstGeom>
          <a:solidFill>
            <a:srgbClr val="D8E4E8"/>
          </a:solidFill>
          <a:ln w="12700">
            <a:solidFill>
              <a:srgbClr val="D8E4E8"/>
            </a:solidFill>
            <a:prstDash val="solid"/>
          </a:ln>
        </p:spPr>
      </p:sp>
      <p:sp>
        <p:nvSpPr>
          <p:cNvPr id="25" name="Shape 23"/>
          <p:cNvSpPr/>
          <p:nvPr/>
        </p:nvSpPr>
        <p:spPr>
          <a:xfrm>
            <a:off x="6245352" y="3200400"/>
            <a:ext cx="548640" cy="16459"/>
          </a:xfrm>
          <a:prstGeom prst="rect">
            <a:avLst/>
          </a:prstGeom>
          <a:solidFill>
            <a:srgbClr val="D8E4E8"/>
          </a:solidFill>
          <a:ln w="12700">
            <a:solidFill>
              <a:srgbClr val="D8E4E8"/>
            </a:solidFill>
            <a:prstDash val="solid"/>
          </a:ln>
        </p:spPr>
      </p:sp>
      <p:sp>
        <p:nvSpPr>
          <p:cNvPr id="32" name="TextBox 31">
            <a:extLst>
              <a:ext uri="{FF2B5EF4-FFF2-40B4-BE49-F238E27FC236}">
                <a16:creationId xmlns:a16="http://schemas.microsoft.com/office/drawing/2014/main" id="{F87FB2B8-E2C3-7B20-2117-FE77DE5FA798}"/>
              </a:ext>
            </a:extLst>
          </p:cNvPr>
          <p:cNvSpPr txBox="1"/>
          <p:nvPr/>
        </p:nvSpPr>
        <p:spPr>
          <a:xfrm>
            <a:off x="667512" y="1115568"/>
            <a:ext cx="7615428" cy="1200329"/>
          </a:xfrm>
          <a:prstGeom prst="rect">
            <a:avLst/>
          </a:prstGeom>
          <a:noFill/>
        </p:spPr>
        <p:txBody>
          <a:bodyPr wrap="square" rtlCol="0">
            <a:spAutoFit/>
          </a:bodyPr>
          <a:lstStyle/>
          <a:p>
            <a:r>
              <a:rPr lang="en-US" b="1" dirty="0"/>
              <a:t>Link to the Notebook:</a:t>
            </a:r>
            <a:br>
              <a:rPr lang="en-US" dirty="0"/>
            </a:br>
            <a:endParaRPr lang="en-US" dirty="0"/>
          </a:p>
          <a:p>
            <a:r>
              <a:rPr lang="en-US" dirty="0"/>
              <a:t>https://jupyter.beta.tazama.org/user/shikha.pamnani/lab/tree/DeltaAnalytics/Latest%20Notebook</a:t>
            </a:r>
          </a:p>
        </p:txBody>
      </p:sp>
    </p:spTree>
    <p:extLst>
      <p:ext uri="{BB962C8B-B14F-4D97-AF65-F5344CB8AC3E}">
        <p14:creationId xmlns:p14="http://schemas.microsoft.com/office/powerpoint/2010/main" val="10296871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0"/>
            <a:ext cx="320040" cy="5143500"/>
          </a:xfrm>
          <a:prstGeom prst="rect">
            <a:avLst/>
          </a:prstGeom>
          <a:solidFill>
            <a:srgbClr val="006D6F"/>
          </a:solidFill>
          <a:ln w="12700">
            <a:solidFill>
              <a:srgbClr val="006D6F"/>
            </a:solidFill>
            <a:prstDash val="solid"/>
          </a:ln>
        </p:spPr>
      </p:sp>
      <p:sp>
        <p:nvSpPr>
          <p:cNvPr id="4" name="Text 2"/>
          <p:cNvSpPr/>
          <p:nvPr/>
        </p:nvSpPr>
        <p:spPr>
          <a:xfrm>
            <a:off x="502920" y="146304"/>
            <a:ext cx="3657600" cy="201168"/>
          </a:xfrm>
          <a:prstGeom prst="rect">
            <a:avLst/>
          </a:prstGeom>
          <a:noFill/>
          <a:ln/>
        </p:spPr>
        <p:txBody>
          <a:bodyPr wrap="square" rtlCol="0" anchor="ctr"/>
          <a:lstStyle/>
          <a:p>
            <a:pPr indent="0">
              <a:buNone/>
            </a:pPr>
            <a:r>
              <a:rPr lang="en-US" sz="1400" b="1" kern="0" spc="200" dirty="0">
                <a:solidFill>
                  <a:srgbClr val="006D6F"/>
                </a:solidFill>
                <a:ea typeface="Calibri" pitchFamily="34" charset="-122"/>
                <a:cs typeface="Calibri" pitchFamily="34" charset="-120"/>
              </a:rPr>
              <a:t>IMPACT</a:t>
            </a:r>
          </a:p>
        </p:txBody>
      </p:sp>
      <p:sp>
        <p:nvSpPr>
          <p:cNvPr id="5" name="Text 3"/>
          <p:cNvSpPr/>
          <p:nvPr/>
        </p:nvSpPr>
        <p:spPr>
          <a:xfrm>
            <a:off x="441960" y="301752"/>
            <a:ext cx="7772400" cy="777240"/>
          </a:xfrm>
          <a:prstGeom prst="rect">
            <a:avLst/>
          </a:prstGeom>
          <a:noFill/>
          <a:ln/>
        </p:spPr>
        <p:txBody>
          <a:bodyPr wrap="square" rtlCol="0" anchor="ctr"/>
          <a:lstStyle/>
          <a:p>
            <a:pPr marL="0" indent="0">
              <a:buNone/>
            </a:pPr>
            <a:r>
              <a:rPr lang="en-US" sz="2800" b="1" dirty="0">
                <a:solidFill>
                  <a:srgbClr val="1C2B3A"/>
                </a:solidFill>
                <a:latin typeface="Calibri" pitchFamily="34" charset="0"/>
                <a:ea typeface="Calibri" pitchFamily="34" charset="-122"/>
                <a:cs typeface="Calibri" pitchFamily="34" charset="-120"/>
              </a:rPr>
              <a:t>From detection to Investigation </a:t>
            </a:r>
            <a:endParaRPr lang="en-US" sz="2800" dirty="0"/>
          </a:p>
        </p:txBody>
      </p:sp>
      <p:sp>
        <p:nvSpPr>
          <p:cNvPr id="26" name="Text 24"/>
          <p:cNvSpPr/>
          <p:nvPr/>
        </p:nvSpPr>
        <p:spPr>
          <a:xfrm>
            <a:off x="-1097280" y="5164836"/>
            <a:ext cx="3566160" cy="384048"/>
          </a:xfrm>
          <a:prstGeom prst="rect">
            <a:avLst/>
          </a:prstGeom>
          <a:noFill/>
          <a:ln/>
        </p:spPr>
        <p:txBody>
          <a:bodyPr wrap="square" rtlCol="0" anchor="ctr"/>
          <a:lstStyle/>
          <a:p>
            <a:pPr marL="0" indent="0">
              <a:lnSpc>
                <a:spcPct val="125000"/>
              </a:lnSpc>
              <a:buNone/>
            </a:pPr>
            <a:r>
              <a:rPr lang="en-US" sz="1000" dirty="0">
                <a:solidFill>
                  <a:srgbClr val="4A6272"/>
                </a:solidFill>
                <a:latin typeface="Calibri" pitchFamily="34" charset="0"/>
                <a:ea typeface="Calibri" pitchFamily="34" charset="-122"/>
                <a:cs typeface="Calibri" pitchFamily="34" charset="-120"/>
              </a:rPr>
              <a:t>Already deployed protecting millions of digital payment users in emerging markets</a:t>
            </a:r>
            <a:endParaRPr lang="en-US" sz="1000" dirty="0"/>
          </a:p>
        </p:txBody>
      </p:sp>
      <p:sp>
        <p:nvSpPr>
          <p:cNvPr id="31" name="Text 4">
            <a:extLst>
              <a:ext uri="{FF2B5EF4-FFF2-40B4-BE49-F238E27FC236}">
                <a16:creationId xmlns:a16="http://schemas.microsoft.com/office/drawing/2014/main" id="{C5B2E5B4-01B2-0323-D0AE-9C7621ABD103}"/>
              </a:ext>
            </a:extLst>
          </p:cNvPr>
          <p:cNvSpPr/>
          <p:nvPr/>
        </p:nvSpPr>
        <p:spPr>
          <a:xfrm>
            <a:off x="502920" y="977466"/>
            <a:ext cx="8138160" cy="201168"/>
          </a:xfrm>
          <a:prstGeom prst="rect">
            <a:avLst/>
          </a:prstGeom>
          <a:noFill/>
          <a:ln/>
        </p:spPr>
        <p:txBody>
          <a:bodyPr wrap="square" rtlCol="0" anchor="ctr"/>
          <a:lstStyle/>
          <a:p>
            <a:pPr marL="0" indent="0">
              <a:buNone/>
            </a:pPr>
            <a:r>
              <a:rPr lang="en-US" sz="1000" b="1" kern="0" spc="150" dirty="0">
                <a:solidFill>
                  <a:srgbClr val="006D6F"/>
                </a:solidFill>
                <a:latin typeface="Calibri" pitchFamily="34" charset="0"/>
                <a:ea typeface="Calibri" pitchFamily="34" charset="-122"/>
                <a:cs typeface="Calibri" pitchFamily="34" charset="-120"/>
              </a:rPr>
              <a:t>VISUAL IMPACT — HOW ALERT INVESTIGATION CHANGED</a:t>
            </a:r>
            <a:endParaRPr lang="en-US" sz="1000" dirty="0"/>
          </a:p>
        </p:txBody>
      </p:sp>
      <p:sp>
        <p:nvSpPr>
          <p:cNvPr id="32" name="Shape 5">
            <a:extLst>
              <a:ext uri="{FF2B5EF4-FFF2-40B4-BE49-F238E27FC236}">
                <a16:creationId xmlns:a16="http://schemas.microsoft.com/office/drawing/2014/main" id="{B3C481C0-A862-B9B8-4E3A-D041F6D8CBDA}"/>
              </a:ext>
            </a:extLst>
          </p:cNvPr>
          <p:cNvSpPr/>
          <p:nvPr/>
        </p:nvSpPr>
        <p:spPr>
          <a:xfrm>
            <a:off x="598501" y="1184222"/>
            <a:ext cx="8138160" cy="13716"/>
          </a:xfrm>
          <a:prstGeom prst="rect">
            <a:avLst/>
          </a:prstGeom>
          <a:solidFill>
            <a:srgbClr val="D8E4E8"/>
          </a:solidFill>
          <a:ln w="12700">
            <a:solidFill>
              <a:srgbClr val="D8E4E8"/>
            </a:solidFill>
            <a:prstDash val="solid"/>
          </a:ln>
        </p:spPr>
      </p:sp>
      <p:grpSp>
        <p:nvGrpSpPr>
          <p:cNvPr id="37" name="Group 36">
            <a:extLst>
              <a:ext uri="{FF2B5EF4-FFF2-40B4-BE49-F238E27FC236}">
                <a16:creationId xmlns:a16="http://schemas.microsoft.com/office/drawing/2014/main" id="{29060645-9FCE-E004-E13E-AA6DAB6F331A}"/>
              </a:ext>
            </a:extLst>
          </p:cNvPr>
          <p:cNvGrpSpPr/>
          <p:nvPr/>
        </p:nvGrpSpPr>
        <p:grpSpPr>
          <a:xfrm>
            <a:off x="560832" y="1274996"/>
            <a:ext cx="2798064" cy="1934534"/>
            <a:chOff x="502920" y="1691640"/>
            <a:chExt cx="2423160" cy="1417320"/>
          </a:xfrm>
        </p:grpSpPr>
        <p:sp>
          <p:nvSpPr>
            <p:cNvPr id="38" name="Shape 6">
              <a:extLst>
                <a:ext uri="{FF2B5EF4-FFF2-40B4-BE49-F238E27FC236}">
                  <a16:creationId xmlns:a16="http://schemas.microsoft.com/office/drawing/2014/main" id="{4761C546-6CDB-C65F-9C80-2F628903E39E}"/>
                </a:ext>
              </a:extLst>
            </p:cNvPr>
            <p:cNvSpPr/>
            <p:nvPr/>
          </p:nvSpPr>
          <p:spPr>
            <a:xfrm>
              <a:off x="502920" y="1691640"/>
              <a:ext cx="2423160" cy="1417320"/>
            </a:xfrm>
            <a:prstGeom prst="roundRect">
              <a:avLst>
                <a:gd name="adj" fmla="val 5161"/>
              </a:avLst>
            </a:prstGeom>
            <a:solidFill>
              <a:srgbClr val="F4F6F8"/>
            </a:solidFill>
            <a:ln w="12700">
              <a:solidFill>
                <a:srgbClr val="D8E4E8"/>
              </a:solidFill>
              <a:prstDash val="solid"/>
            </a:ln>
          </p:spPr>
        </p:sp>
        <p:grpSp>
          <p:nvGrpSpPr>
            <p:cNvPr id="39" name="Group 38">
              <a:extLst>
                <a:ext uri="{FF2B5EF4-FFF2-40B4-BE49-F238E27FC236}">
                  <a16:creationId xmlns:a16="http://schemas.microsoft.com/office/drawing/2014/main" id="{479680DB-34B4-D59F-B3AE-DBA9BAAD9001}"/>
                </a:ext>
              </a:extLst>
            </p:cNvPr>
            <p:cNvGrpSpPr/>
            <p:nvPr/>
          </p:nvGrpSpPr>
          <p:grpSpPr>
            <a:xfrm>
              <a:off x="502920" y="1691640"/>
              <a:ext cx="2331720" cy="1417320"/>
              <a:chOff x="502920" y="1691640"/>
              <a:chExt cx="2331720" cy="1417320"/>
            </a:xfrm>
          </p:grpSpPr>
          <p:sp>
            <p:nvSpPr>
              <p:cNvPr id="40" name="Shape 7">
                <a:extLst>
                  <a:ext uri="{FF2B5EF4-FFF2-40B4-BE49-F238E27FC236}">
                    <a16:creationId xmlns:a16="http://schemas.microsoft.com/office/drawing/2014/main" id="{C94A4323-45AD-D96C-A600-6A4D6BE6DE93}"/>
                  </a:ext>
                </a:extLst>
              </p:cNvPr>
              <p:cNvSpPr/>
              <p:nvPr/>
            </p:nvSpPr>
            <p:spPr>
              <a:xfrm>
                <a:off x="502920" y="1691640"/>
                <a:ext cx="45720" cy="1417320"/>
              </a:xfrm>
              <a:prstGeom prst="rect">
                <a:avLst/>
              </a:prstGeom>
              <a:solidFill>
                <a:srgbClr val="C0392B"/>
              </a:solidFill>
              <a:ln w="12700">
                <a:solidFill>
                  <a:srgbClr val="C0392B"/>
                </a:solidFill>
                <a:prstDash val="solid"/>
              </a:ln>
            </p:spPr>
          </p:sp>
          <p:sp>
            <p:nvSpPr>
              <p:cNvPr id="41" name="Text 8">
                <a:extLst>
                  <a:ext uri="{FF2B5EF4-FFF2-40B4-BE49-F238E27FC236}">
                    <a16:creationId xmlns:a16="http://schemas.microsoft.com/office/drawing/2014/main" id="{76E8C0A6-C09D-6488-0E17-99B810F15DD5}"/>
                  </a:ext>
                </a:extLst>
              </p:cNvPr>
              <p:cNvSpPr/>
              <p:nvPr/>
            </p:nvSpPr>
            <p:spPr>
              <a:xfrm>
                <a:off x="658368" y="1726359"/>
                <a:ext cx="1371600" cy="201168"/>
              </a:xfrm>
              <a:prstGeom prst="rect">
                <a:avLst/>
              </a:prstGeom>
              <a:noFill/>
              <a:ln/>
            </p:spPr>
            <p:txBody>
              <a:bodyPr wrap="square" rtlCol="0" anchor="ctr"/>
              <a:lstStyle/>
              <a:p>
                <a:pPr marL="0" indent="0">
                  <a:buNone/>
                </a:pPr>
                <a:r>
                  <a:rPr lang="en-US" sz="900" b="1" kern="0" spc="150" dirty="0">
                    <a:solidFill>
                      <a:srgbClr val="C0392B"/>
                    </a:solidFill>
                    <a:latin typeface="Calibri" pitchFamily="34" charset="0"/>
                    <a:ea typeface="Calibri" pitchFamily="34" charset="-122"/>
                    <a:cs typeface="Calibri" pitchFamily="34" charset="-120"/>
                  </a:rPr>
                  <a:t>BEFORE</a:t>
                </a:r>
                <a:endParaRPr lang="en-US" sz="900" dirty="0"/>
              </a:p>
            </p:txBody>
          </p:sp>
          <p:sp>
            <p:nvSpPr>
              <p:cNvPr id="42" name="Text 9">
                <a:extLst>
                  <a:ext uri="{FF2B5EF4-FFF2-40B4-BE49-F238E27FC236}">
                    <a16:creationId xmlns:a16="http://schemas.microsoft.com/office/drawing/2014/main" id="{AF045C9F-4CB7-BC01-7897-511153DC9FA5}"/>
                  </a:ext>
                </a:extLst>
              </p:cNvPr>
              <p:cNvSpPr/>
              <p:nvPr/>
            </p:nvSpPr>
            <p:spPr>
              <a:xfrm>
                <a:off x="658368" y="1902726"/>
                <a:ext cx="2176272" cy="1096507"/>
              </a:xfrm>
              <a:prstGeom prst="rect">
                <a:avLst/>
              </a:prstGeom>
              <a:noFill/>
              <a:ln/>
            </p:spPr>
            <p:txBody>
              <a:bodyPr wrap="square" rtlCol="0" anchor="ctr"/>
              <a:lstStyle/>
              <a:p>
                <a:pPr marL="0" indent="0">
                  <a:lnSpc>
                    <a:spcPct val="140000"/>
                  </a:lnSpc>
                  <a:buNone/>
                </a:pPr>
                <a:r>
                  <a:rPr lang="en-US" sz="1000" dirty="0">
                    <a:solidFill>
                      <a:srgbClr val="4A6272"/>
                    </a:solidFill>
                    <a:latin typeface="Calibri" pitchFamily="34" charset="0"/>
                    <a:ea typeface="Calibri" pitchFamily="34" charset="-122"/>
                    <a:cs typeface="Calibri" pitchFamily="34" charset="-120"/>
                  </a:rPr>
                  <a:t>✕  Investigator only sees Binary ALRT — no explanation</a:t>
                </a:r>
                <a:endParaRPr lang="en-US" sz="1000" dirty="0"/>
              </a:p>
              <a:p>
                <a:pPr marL="0" indent="0">
                  <a:lnSpc>
                    <a:spcPct val="140000"/>
                  </a:lnSpc>
                  <a:buNone/>
                </a:pPr>
                <a:r>
                  <a:rPr lang="en-US" sz="1000" dirty="0">
                    <a:solidFill>
                      <a:srgbClr val="4A6272"/>
                    </a:solidFill>
                    <a:latin typeface="Calibri" pitchFamily="34" charset="0"/>
                    <a:ea typeface="Calibri" pitchFamily="34" charset="-122"/>
                    <a:cs typeface="Calibri" pitchFamily="34" charset="-120"/>
                  </a:rPr>
                  <a:t>✕  Manually search entire transaction history</a:t>
                </a:r>
                <a:endParaRPr lang="en-US" sz="1000" dirty="0"/>
              </a:p>
              <a:p>
                <a:pPr marL="0" indent="0">
                  <a:lnSpc>
                    <a:spcPct val="140000"/>
                  </a:lnSpc>
                  <a:buNone/>
                </a:pPr>
                <a:r>
                  <a:rPr lang="en-US" sz="1000" dirty="0">
                    <a:solidFill>
                      <a:srgbClr val="4A6272"/>
                    </a:solidFill>
                    <a:latin typeface="Calibri" pitchFamily="34" charset="0"/>
                    <a:ea typeface="Calibri" pitchFamily="34" charset="-122"/>
                    <a:cs typeface="Calibri" pitchFamily="34" charset="-120"/>
                  </a:rPr>
                  <a:t>✕  No rule weights or context visible</a:t>
                </a:r>
                <a:endParaRPr lang="en-US" sz="1000" dirty="0"/>
              </a:p>
              <a:p>
                <a:pPr marL="0" indent="0">
                  <a:lnSpc>
                    <a:spcPct val="140000"/>
                  </a:lnSpc>
                  <a:buNone/>
                </a:pPr>
                <a:r>
                  <a:rPr lang="en-US" sz="1000" dirty="0">
                    <a:solidFill>
                      <a:srgbClr val="4A6272"/>
                    </a:solidFill>
                    <a:latin typeface="Calibri" pitchFamily="34" charset="0"/>
                    <a:ea typeface="Calibri" pitchFamily="34" charset="-122"/>
                    <a:cs typeface="Calibri" pitchFamily="34" charset="-120"/>
                  </a:rPr>
                  <a:t>✕  Every triage starts from scratch</a:t>
                </a:r>
                <a:endParaRPr lang="en-US" sz="1000" dirty="0"/>
              </a:p>
            </p:txBody>
          </p:sp>
        </p:grpSp>
      </p:grpSp>
      <p:grpSp>
        <p:nvGrpSpPr>
          <p:cNvPr id="43" name="Group 42">
            <a:extLst>
              <a:ext uri="{FF2B5EF4-FFF2-40B4-BE49-F238E27FC236}">
                <a16:creationId xmlns:a16="http://schemas.microsoft.com/office/drawing/2014/main" id="{5CE05288-3EB7-F7F1-C758-E38B6467AE17}"/>
              </a:ext>
            </a:extLst>
          </p:cNvPr>
          <p:cNvGrpSpPr/>
          <p:nvPr/>
        </p:nvGrpSpPr>
        <p:grpSpPr>
          <a:xfrm>
            <a:off x="3862909" y="1274565"/>
            <a:ext cx="2346960" cy="1944361"/>
            <a:chOff x="3547872" y="1691640"/>
            <a:chExt cx="2423160" cy="1417320"/>
          </a:xfrm>
        </p:grpSpPr>
        <p:sp>
          <p:nvSpPr>
            <p:cNvPr id="44" name="Shape 11">
              <a:extLst>
                <a:ext uri="{FF2B5EF4-FFF2-40B4-BE49-F238E27FC236}">
                  <a16:creationId xmlns:a16="http://schemas.microsoft.com/office/drawing/2014/main" id="{B24B4117-CDDB-5951-FAA4-87D4A7C26EE5}"/>
                </a:ext>
              </a:extLst>
            </p:cNvPr>
            <p:cNvSpPr/>
            <p:nvPr/>
          </p:nvSpPr>
          <p:spPr>
            <a:xfrm>
              <a:off x="3547872" y="1691640"/>
              <a:ext cx="2423160" cy="1417320"/>
            </a:xfrm>
            <a:prstGeom prst="roundRect">
              <a:avLst>
                <a:gd name="adj" fmla="val 5161"/>
              </a:avLst>
            </a:prstGeom>
            <a:solidFill>
              <a:srgbClr val="E8F4F5"/>
            </a:solidFill>
            <a:ln w="12700">
              <a:solidFill>
                <a:srgbClr val="D0EAEB"/>
              </a:solidFill>
              <a:prstDash val="solid"/>
            </a:ln>
          </p:spPr>
        </p:sp>
        <p:sp>
          <p:nvSpPr>
            <p:cNvPr id="45" name="Shape 12">
              <a:extLst>
                <a:ext uri="{FF2B5EF4-FFF2-40B4-BE49-F238E27FC236}">
                  <a16:creationId xmlns:a16="http://schemas.microsoft.com/office/drawing/2014/main" id="{F8046B72-1751-1EAC-8129-B3FAB44E575C}"/>
                </a:ext>
              </a:extLst>
            </p:cNvPr>
            <p:cNvSpPr/>
            <p:nvPr/>
          </p:nvSpPr>
          <p:spPr>
            <a:xfrm>
              <a:off x="3547872" y="1691640"/>
              <a:ext cx="45720" cy="1417320"/>
            </a:xfrm>
            <a:prstGeom prst="rect">
              <a:avLst/>
            </a:prstGeom>
            <a:solidFill>
              <a:srgbClr val="006D6F"/>
            </a:solidFill>
            <a:ln w="12700">
              <a:solidFill>
                <a:srgbClr val="006D6F"/>
              </a:solidFill>
              <a:prstDash val="solid"/>
            </a:ln>
          </p:spPr>
        </p:sp>
        <p:sp>
          <p:nvSpPr>
            <p:cNvPr id="46" name="Text 14">
              <a:extLst>
                <a:ext uri="{FF2B5EF4-FFF2-40B4-BE49-F238E27FC236}">
                  <a16:creationId xmlns:a16="http://schemas.microsoft.com/office/drawing/2014/main" id="{F223C79E-EFAA-1EDE-8E59-3328EC741C65}"/>
                </a:ext>
              </a:extLst>
            </p:cNvPr>
            <p:cNvSpPr/>
            <p:nvPr/>
          </p:nvSpPr>
          <p:spPr>
            <a:xfrm>
              <a:off x="3703320" y="1901973"/>
              <a:ext cx="2176272" cy="1097260"/>
            </a:xfrm>
            <a:prstGeom prst="rect">
              <a:avLst/>
            </a:prstGeom>
            <a:noFill/>
            <a:ln/>
          </p:spPr>
          <p:txBody>
            <a:bodyPr wrap="square" rtlCol="0" anchor="ctr"/>
            <a:lstStyle/>
            <a:p>
              <a:pPr marL="0" indent="0">
                <a:lnSpc>
                  <a:spcPct val="140000"/>
                </a:lnSpc>
                <a:buNone/>
              </a:pPr>
              <a:r>
                <a:rPr lang="en-US" sz="1000" dirty="0">
                  <a:solidFill>
                    <a:srgbClr val="006D6F"/>
                  </a:solidFill>
                  <a:latin typeface="Calibri" pitchFamily="34" charset="0"/>
                  <a:ea typeface="Calibri" pitchFamily="34" charset="-122"/>
                  <a:cs typeface="Calibri" pitchFamily="34" charset="-120"/>
                </a:rPr>
                <a:t>✓  Instant typology and rule explainability with  weights &amp; IVs</a:t>
              </a:r>
              <a:endParaRPr lang="en-US" sz="1000" dirty="0"/>
            </a:p>
            <a:p>
              <a:pPr marL="0" indent="0">
                <a:lnSpc>
                  <a:spcPct val="140000"/>
                </a:lnSpc>
                <a:buNone/>
              </a:pPr>
              <a:r>
                <a:rPr lang="en-US" sz="1000" dirty="0">
                  <a:solidFill>
                    <a:srgbClr val="006D6F"/>
                  </a:solidFill>
                  <a:latin typeface="Calibri" pitchFamily="34" charset="0"/>
                  <a:ea typeface="Calibri" pitchFamily="34" charset="-122"/>
                  <a:cs typeface="Calibri" pitchFamily="34" charset="-120"/>
                </a:rPr>
                <a:t>✓  Specific behavior attributes surfaced automatically</a:t>
              </a:r>
              <a:endParaRPr lang="en-US" sz="1000" dirty="0"/>
            </a:p>
            <a:p>
              <a:pPr marL="0" indent="0">
                <a:lnSpc>
                  <a:spcPct val="140000"/>
                </a:lnSpc>
                <a:buNone/>
              </a:pPr>
              <a:r>
                <a:rPr lang="en-US" sz="1000" dirty="0">
                  <a:solidFill>
                    <a:srgbClr val="006D6F"/>
                  </a:solidFill>
                  <a:latin typeface="Calibri" pitchFamily="34" charset="0"/>
                  <a:ea typeface="Calibri" pitchFamily="34" charset="-122"/>
                  <a:cs typeface="Calibri" pitchFamily="34" charset="-120"/>
                </a:rPr>
                <a:t>✓  Full transaction history replayed</a:t>
              </a:r>
              <a:endParaRPr lang="en-US" sz="1000" dirty="0"/>
            </a:p>
            <a:p>
              <a:pPr marL="0" indent="0">
                <a:lnSpc>
                  <a:spcPct val="140000"/>
                </a:lnSpc>
                <a:buNone/>
              </a:pPr>
              <a:r>
                <a:rPr lang="en-US" sz="1000" dirty="0">
                  <a:solidFill>
                    <a:srgbClr val="006D6F"/>
                  </a:solidFill>
                  <a:latin typeface="Calibri" pitchFamily="34" charset="0"/>
                  <a:ea typeface="Calibri" pitchFamily="34" charset="-122"/>
                  <a:cs typeface="Calibri" pitchFamily="34" charset="-120"/>
                </a:rPr>
                <a:t>✓  Evidence-based triage in seconds</a:t>
              </a:r>
              <a:endParaRPr lang="en-US" sz="1000" dirty="0"/>
            </a:p>
          </p:txBody>
        </p:sp>
      </p:grpSp>
      <p:sp>
        <p:nvSpPr>
          <p:cNvPr id="47" name="Text 10">
            <a:extLst>
              <a:ext uri="{FF2B5EF4-FFF2-40B4-BE49-F238E27FC236}">
                <a16:creationId xmlns:a16="http://schemas.microsoft.com/office/drawing/2014/main" id="{C2EF6E84-1FAC-C8AA-0E3C-4E5A43B391B5}"/>
              </a:ext>
            </a:extLst>
          </p:cNvPr>
          <p:cNvSpPr/>
          <p:nvPr/>
        </p:nvSpPr>
        <p:spPr>
          <a:xfrm>
            <a:off x="3435988" y="1950588"/>
            <a:ext cx="457200" cy="457200"/>
          </a:xfrm>
          <a:prstGeom prst="rect">
            <a:avLst/>
          </a:prstGeom>
          <a:noFill/>
          <a:ln/>
        </p:spPr>
        <p:txBody>
          <a:bodyPr wrap="square" rtlCol="0" anchor="ctr"/>
          <a:lstStyle/>
          <a:p>
            <a:pPr marL="0" indent="0" algn="ctr">
              <a:buNone/>
            </a:pPr>
            <a:r>
              <a:rPr lang="en-US" sz="2200" b="1" dirty="0">
                <a:solidFill>
                  <a:srgbClr val="006D6F"/>
                </a:solidFill>
                <a:latin typeface="Calibri" pitchFamily="34" charset="0"/>
                <a:ea typeface="Calibri" pitchFamily="34" charset="-122"/>
                <a:cs typeface="Calibri" pitchFamily="34" charset="-120"/>
              </a:rPr>
              <a:t>→</a:t>
            </a:r>
            <a:endParaRPr lang="en-US" sz="2200" dirty="0"/>
          </a:p>
        </p:txBody>
      </p:sp>
      <p:sp>
        <p:nvSpPr>
          <p:cNvPr id="48" name="Text 8">
            <a:extLst>
              <a:ext uri="{FF2B5EF4-FFF2-40B4-BE49-F238E27FC236}">
                <a16:creationId xmlns:a16="http://schemas.microsoft.com/office/drawing/2014/main" id="{90856E67-9426-1D20-1F4E-6ACC214CF201}"/>
              </a:ext>
            </a:extLst>
          </p:cNvPr>
          <p:cNvSpPr/>
          <p:nvPr/>
        </p:nvSpPr>
        <p:spPr>
          <a:xfrm>
            <a:off x="4013469" y="1411299"/>
            <a:ext cx="2096276" cy="353874"/>
          </a:xfrm>
          <a:prstGeom prst="rect">
            <a:avLst/>
          </a:prstGeom>
          <a:noFill/>
          <a:ln/>
        </p:spPr>
        <p:txBody>
          <a:bodyPr wrap="square" rtlCol="0" anchor="ctr"/>
          <a:lstStyle/>
          <a:p>
            <a:r>
              <a:rPr lang="en-US" sz="900" b="1" kern="0" spc="150" dirty="0">
                <a:solidFill>
                  <a:srgbClr val="23908D"/>
                </a:solidFill>
                <a:latin typeface="Calibri" pitchFamily="34" charset="0"/>
                <a:ea typeface="Calibri" pitchFamily="34" charset="-122"/>
                <a:cs typeface="Calibri" pitchFamily="34" charset="-120"/>
              </a:rPr>
              <a:t>AFTER</a:t>
            </a:r>
          </a:p>
        </p:txBody>
      </p:sp>
      <p:grpSp>
        <p:nvGrpSpPr>
          <p:cNvPr id="49" name="Group 48">
            <a:extLst>
              <a:ext uri="{FF2B5EF4-FFF2-40B4-BE49-F238E27FC236}">
                <a16:creationId xmlns:a16="http://schemas.microsoft.com/office/drawing/2014/main" id="{48A67C33-FD87-270C-95BE-FD81A920F0D9}"/>
              </a:ext>
            </a:extLst>
          </p:cNvPr>
          <p:cNvGrpSpPr/>
          <p:nvPr/>
        </p:nvGrpSpPr>
        <p:grpSpPr>
          <a:xfrm>
            <a:off x="6386740" y="1279678"/>
            <a:ext cx="2560320" cy="1929853"/>
            <a:chOff x="6080760" y="1685762"/>
            <a:chExt cx="2560320" cy="1423198"/>
          </a:xfrm>
        </p:grpSpPr>
        <p:sp>
          <p:nvSpPr>
            <p:cNvPr id="50" name="Shape 15">
              <a:extLst>
                <a:ext uri="{FF2B5EF4-FFF2-40B4-BE49-F238E27FC236}">
                  <a16:creationId xmlns:a16="http://schemas.microsoft.com/office/drawing/2014/main" id="{2B2F4301-51FD-0964-2002-175EBF80C482}"/>
                </a:ext>
              </a:extLst>
            </p:cNvPr>
            <p:cNvSpPr/>
            <p:nvPr/>
          </p:nvSpPr>
          <p:spPr>
            <a:xfrm>
              <a:off x="6080760" y="1691640"/>
              <a:ext cx="2560320" cy="1417320"/>
            </a:xfrm>
            <a:prstGeom prst="roundRect">
              <a:avLst>
                <a:gd name="adj" fmla="val 5161"/>
              </a:avLst>
            </a:prstGeom>
            <a:solidFill>
              <a:srgbClr val="FFFFFF"/>
            </a:solidFill>
            <a:ln w="12700">
              <a:solidFill>
                <a:srgbClr val="D8E4E8"/>
              </a:solidFill>
              <a:prstDash val="solid"/>
            </a:ln>
          </p:spPr>
        </p:sp>
        <p:sp>
          <p:nvSpPr>
            <p:cNvPr id="51" name="Shape 16">
              <a:extLst>
                <a:ext uri="{FF2B5EF4-FFF2-40B4-BE49-F238E27FC236}">
                  <a16:creationId xmlns:a16="http://schemas.microsoft.com/office/drawing/2014/main" id="{E0D93B8F-169A-F38A-5FFE-67F1F0258C3B}"/>
                </a:ext>
              </a:extLst>
            </p:cNvPr>
            <p:cNvSpPr/>
            <p:nvPr/>
          </p:nvSpPr>
          <p:spPr>
            <a:xfrm>
              <a:off x="6080760" y="1691640"/>
              <a:ext cx="45720" cy="1417320"/>
            </a:xfrm>
            <a:prstGeom prst="rect">
              <a:avLst/>
            </a:prstGeom>
            <a:solidFill>
              <a:srgbClr val="2D4A6B"/>
            </a:solidFill>
            <a:ln w="12700">
              <a:solidFill>
                <a:srgbClr val="2D4A6B"/>
              </a:solidFill>
              <a:prstDash val="solid"/>
            </a:ln>
          </p:spPr>
        </p:sp>
        <p:sp>
          <p:nvSpPr>
            <p:cNvPr id="52" name="Text 17">
              <a:extLst>
                <a:ext uri="{FF2B5EF4-FFF2-40B4-BE49-F238E27FC236}">
                  <a16:creationId xmlns:a16="http://schemas.microsoft.com/office/drawing/2014/main" id="{5A425007-A1AD-3FC3-0200-DF6B02C76CCD}"/>
                </a:ext>
              </a:extLst>
            </p:cNvPr>
            <p:cNvSpPr/>
            <p:nvPr/>
          </p:nvSpPr>
          <p:spPr>
            <a:xfrm>
              <a:off x="6126480" y="1685762"/>
              <a:ext cx="2286000" cy="274320"/>
            </a:xfrm>
            <a:prstGeom prst="rect">
              <a:avLst/>
            </a:prstGeom>
            <a:noFill/>
            <a:ln/>
          </p:spPr>
          <p:txBody>
            <a:bodyPr wrap="square" rtlCol="0" anchor="ctr"/>
            <a:lstStyle/>
            <a:p>
              <a:pPr marL="0" indent="0">
                <a:buNone/>
              </a:pPr>
              <a:r>
                <a:rPr lang="en-US" sz="1200" b="1" dirty="0">
                  <a:solidFill>
                    <a:srgbClr val="1C2B3A"/>
                  </a:solidFill>
                  <a:latin typeface="Calibri" pitchFamily="34" charset="0"/>
                  <a:ea typeface="Calibri" pitchFamily="34" charset="-122"/>
                  <a:cs typeface="Calibri" pitchFamily="34" charset="-120"/>
                </a:rPr>
                <a:t>Embedded in Tazama CMS</a:t>
              </a:r>
              <a:endParaRPr lang="en-US" sz="1200" dirty="0"/>
            </a:p>
          </p:txBody>
        </p:sp>
        <p:sp>
          <p:nvSpPr>
            <p:cNvPr id="53" name="Text 18">
              <a:extLst>
                <a:ext uri="{FF2B5EF4-FFF2-40B4-BE49-F238E27FC236}">
                  <a16:creationId xmlns:a16="http://schemas.microsoft.com/office/drawing/2014/main" id="{1F02CA51-BF80-C1C2-073A-106479D349DE}"/>
                </a:ext>
              </a:extLst>
            </p:cNvPr>
            <p:cNvSpPr/>
            <p:nvPr/>
          </p:nvSpPr>
          <p:spPr>
            <a:xfrm>
              <a:off x="6236208" y="1937773"/>
              <a:ext cx="2211668" cy="1060736"/>
            </a:xfrm>
            <a:prstGeom prst="rect">
              <a:avLst/>
            </a:prstGeom>
            <a:noFill/>
            <a:ln/>
          </p:spPr>
          <p:txBody>
            <a:bodyPr wrap="square" rtlCol="0" anchor="ctr"/>
            <a:lstStyle/>
            <a:p>
              <a:pPr marL="0" indent="0">
                <a:lnSpc>
                  <a:spcPct val="135000"/>
                </a:lnSpc>
                <a:buNone/>
              </a:pPr>
              <a:r>
                <a:rPr lang="en-US" sz="1100" dirty="0">
                  <a:solidFill>
                    <a:srgbClr val="4A6272"/>
                  </a:solidFill>
                  <a:latin typeface="Calibri" pitchFamily="34" charset="0"/>
                  <a:ea typeface="Calibri" pitchFamily="34" charset="-122"/>
                  <a:cs typeface="Calibri" pitchFamily="34" charset="-120"/>
                </a:rPr>
                <a:t>The Alert Navigator &amp; Rule Trigger Discovery will be embedded inside the Case &amp; Investigation Management System available to every operator who deploys Tazama 4.0 worldwide</a:t>
              </a:r>
              <a:endParaRPr lang="en-US" sz="1100" dirty="0"/>
            </a:p>
          </p:txBody>
        </p:sp>
      </p:grpSp>
      <p:sp>
        <p:nvSpPr>
          <p:cNvPr id="54" name="Text 19">
            <a:extLst>
              <a:ext uri="{FF2B5EF4-FFF2-40B4-BE49-F238E27FC236}">
                <a16:creationId xmlns:a16="http://schemas.microsoft.com/office/drawing/2014/main" id="{FD2055E0-E6A4-E258-AD23-21015675119C}"/>
              </a:ext>
            </a:extLst>
          </p:cNvPr>
          <p:cNvSpPr/>
          <p:nvPr/>
        </p:nvSpPr>
        <p:spPr>
          <a:xfrm>
            <a:off x="475488" y="3301567"/>
            <a:ext cx="8138160" cy="201168"/>
          </a:xfrm>
          <a:prstGeom prst="rect">
            <a:avLst/>
          </a:prstGeom>
          <a:noFill/>
          <a:ln/>
        </p:spPr>
        <p:txBody>
          <a:bodyPr wrap="square" rtlCol="0" anchor="ctr"/>
          <a:lstStyle/>
          <a:p>
            <a:pPr marL="0" indent="0">
              <a:buNone/>
            </a:pPr>
            <a:r>
              <a:rPr lang="en-US" sz="1000" b="1" kern="0" spc="150" dirty="0">
                <a:solidFill>
                  <a:srgbClr val="2D4A6B"/>
                </a:solidFill>
                <a:latin typeface="Calibri" pitchFamily="34" charset="0"/>
                <a:ea typeface="Calibri" pitchFamily="34" charset="-122"/>
                <a:cs typeface="Calibri" pitchFamily="34" charset="-120"/>
              </a:rPr>
              <a:t>COMMUNITY &amp; SCALE — WHO WILL USE THESE VISUALS TO INVESTIGATE FRAUD</a:t>
            </a:r>
            <a:endParaRPr lang="en-US" sz="1000" dirty="0"/>
          </a:p>
        </p:txBody>
      </p:sp>
      <p:sp>
        <p:nvSpPr>
          <p:cNvPr id="57" name="Shape 5">
            <a:extLst>
              <a:ext uri="{FF2B5EF4-FFF2-40B4-BE49-F238E27FC236}">
                <a16:creationId xmlns:a16="http://schemas.microsoft.com/office/drawing/2014/main" id="{45B53C7A-06F5-6D0F-AE1E-3EA723AA2CDF}"/>
              </a:ext>
            </a:extLst>
          </p:cNvPr>
          <p:cNvSpPr/>
          <p:nvPr/>
        </p:nvSpPr>
        <p:spPr>
          <a:xfrm>
            <a:off x="530352" y="3494007"/>
            <a:ext cx="8138160" cy="13716"/>
          </a:xfrm>
          <a:prstGeom prst="rect">
            <a:avLst/>
          </a:prstGeom>
          <a:solidFill>
            <a:srgbClr val="D8E4E8"/>
          </a:solidFill>
          <a:ln w="12700">
            <a:solidFill>
              <a:srgbClr val="D8E4E8"/>
            </a:solidFill>
            <a:prstDash val="solid"/>
          </a:ln>
        </p:spPr>
      </p:sp>
      <p:grpSp>
        <p:nvGrpSpPr>
          <p:cNvPr id="58" name="Group 57">
            <a:extLst>
              <a:ext uri="{FF2B5EF4-FFF2-40B4-BE49-F238E27FC236}">
                <a16:creationId xmlns:a16="http://schemas.microsoft.com/office/drawing/2014/main" id="{F0B954CA-8412-0BD3-E561-24E94670C654}"/>
              </a:ext>
            </a:extLst>
          </p:cNvPr>
          <p:cNvGrpSpPr/>
          <p:nvPr/>
        </p:nvGrpSpPr>
        <p:grpSpPr>
          <a:xfrm>
            <a:off x="515702" y="3589839"/>
            <a:ext cx="1965960" cy="1226073"/>
            <a:chOff x="502920" y="3611880"/>
            <a:chExt cx="1965960" cy="1325880"/>
          </a:xfrm>
        </p:grpSpPr>
        <p:sp>
          <p:nvSpPr>
            <p:cNvPr id="59" name="Shape 21">
              <a:extLst>
                <a:ext uri="{FF2B5EF4-FFF2-40B4-BE49-F238E27FC236}">
                  <a16:creationId xmlns:a16="http://schemas.microsoft.com/office/drawing/2014/main" id="{8198BBEE-B646-AE69-510F-E9076750A9F0}"/>
                </a:ext>
              </a:extLst>
            </p:cNvPr>
            <p:cNvSpPr/>
            <p:nvPr/>
          </p:nvSpPr>
          <p:spPr>
            <a:xfrm>
              <a:off x="502920" y="3611880"/>
              <a:ext cx="1965960" cy="1325880"/>
            </a:xfrm>
            <a:prstGeom prst="roundRect">
              <a:avLst>
                <a:gd name="adj" fmla="val 5517"/>
              </a:avLst>
            </a:prstGeom>
            <a:solidFill>
              <a:srgbClr val="FFFFFF"/>
            </a:solidFill>
            <a:ln w="12700">
              <a:solidFill>
                <a:srgbClr val="D8E4E8"/>
              </a:solidFill>
              <a:prstDash val="solid"/>
            </a:ln>
          </p:spPr>
        </p:sp>
        <p:sp>
          <p:nvSpPr>
            <p:cNvPr id="60" name="Shape 22">
              <a:extLst>
                <a:ext uri="{FF2B5EF4-FFF2-40B4-BE49-F238E27FC236}">
                  <a16:creationId xmlns:a16="http://schemas.microsoft.com/office/drawing/2014/main" id="{0EF1A9CC-74D1-068E-DB4E-67B789DEC348}"/>
                </a:ext>
              </a:extLst>
            </p:cNvPr>
            <p:cNvSpPr/>
            <p:nvPr/>
          </p:nvSpPr>
          <p:spPr>
            <a:xfrm>
              <a:off x="502920" y="3611880"/>
              <a:ext cx="1965960" cy="45720"/>
            </a:xfrm>
            <a:prstGeom prst="rect">
              <a:avLst/>
            </a:prstGeom>
            <a:solidFill>
              <a:srgbClr val="006D6F"/>
            </a:solidFill>
            <a:ln w="12700">
              <a:solidFill>
                <a:srgbClr val="006D6F"/>
              </a:solidFill>
              <a:prstDash val="solid"/>
            </a:ln>
          </p:spPr>
        </p:sp>
        <p:sp>
          <p:nvSpPr>
            <p:cNvPr id="61" name="Text 23">
              <a:extLst>
                <a:ext uri="{FF2B5EF4-FFF2-40B4-BE49-F238E27FC236}">
                  <a16:creationId xmlns:a16="http://schemas.microsoft.com/office/drawing/2014/main" id="{272F6A1F-B0FD-EFA5-7A6E-B774942DD37E}"/>
                </a:ext>
              </a:extLst>
            </p:cNvPr>
            <p:cNvSpPr/>
            <p:nvPr/>
          </p:nvSpPr>
          <p:spPr>
            <a:xfrm>
              <a:off x="640080" y="3703320"/>
              <a:ext cx="1691640" cy="566928"/>
            </a:xfrm>
            <a:prstGeom prst="rect">
              <a:avLst/>
            </a:prstGeom>
            <a:noFill/>
            <a:ln/>
          </p:spPr>
          <p:txBody>
            <a:bodyPr wrap="square" rtlCol="0" anchor="ctr"/>
            <a:lstStyle/>
            <a:p>
              <a:pPr marL="0" indent="0" algn="l">
                <a:buNone/>
              </a:pPr>
              <a:r>
                <a:rPr lang="en-US" sz="3400" b="1" dirty="0">
                  <a:solidFill>
                    <a:srgbClr val="006D6F"/>
                  </a:solidFill>
                  <a:latin typeface="Calibri" pitchFamily="34" charset="0"/>
                  <a:ea typeface="Calibri" pitchFamily="34" charset="-122"/>
                  <a:cs typeface="Calibri" pitchFamily="34" charset="-120"/>
                </a:rPr>
                <a:t>12+</a:t>
              </a:r>
              <a:endParaRPr lang="en-US" sz="3400" dirty="0"/>
            </a:p>
          </p:txBody>
        </p:sp>
        <p:sp>
          <p:nvSpPr>
            <p:cNvPr id="62" name="Text 24">
              <a:extLst>
                <a:ext uri="{FF2B5EF4-FFF2-40B4-BE49-F238E27FC236}">
                  <a16:creationId xmlns:a16="http://schemas.microsoft.com/office/drawing/2014/main" id="{C091F14B-A9B3-39E2-E2B3-660A0E208272}"/>
                </a:ext>
              </a:extLst>
            </p:cNvPr>
            <p:cNvSpPr/>
            <p:nvPr/>
          </p:nvSpPr>
          <p:spPr>
            <a:xfrm>
              <a:off x="640080" y="4297680"/>
              <a:ext cx="1691640" cy="502920"/>
            </a:xfrm>
            <a:prstGeom prst="rect">
              <a:avLst/>
            </a:prstGeom>
            <a:noFill/>
            <a:ln/>
          </p:spPr>
          <p:txBody>
            <a:bodyPr wrap="square" rtlCol="0" anchor="ctr"/>
            <a:lstStyle/>
            <a:p>
              <a:pPr marL="0" indent="0">
                <a:lnSpc>
                  <a:spcPct val="125000"/>
                </a:lnSpc>
                <a:buNone/>
              </a:pPr>
              <a:r>
                <a:rPr lang="en-US" sz="1000" dirty="0">
                  <a:solidFill>
                    <a:srgbClr val="4A6272"/>
                  </a:solidFill>
                  <a:latin typeface="Calibri" pitchFamily="34" charset="0"/>
                  <a:ea typeface="Calibri" pitchFamily="34" charset="-122"/>
                  <a:cs typeface="Calibri" pitchFamily="34" charset="-120"/>
                </a:rPr>
                <a:t>Participatory organizations as part of Beta program</a:t>
              </a:r>
              <a:endParaRPr lang="en-US" sz="1000" dirty="0"/>
            </a:p>
          </p:txBody>
        </p:sp>
      </p:grpSp>
      <p:grpSp>
        <p:nvGrpSpPr>
          <p:cNvPr id="63" name="Group 62">
            <a:extLst>
              <a:ext uri="{FF2B5EF4-FFF2-40B4-BE49-F238E27FC236}">
                <a16:creationId xmlns:a16="http://schemas.microsoft.com/office/drawing/2014/main" id="{761B76D4-AA1D-03D9-6AD8-242202BB93D2}"/>
              </a:ext>
            </a:extLst>
          </p:cNvPr>
          <p:cNvGrpSpPr/>
          <p:nvPr/>
        </p:nvGrpSpPr>
        <p:grpSpPr>
          <a:xfrm>
            <a:off x="2637110" y="3589839"/>
            <a:ext cx="1965960" cy="1226073"/>
            <a:chOff x="2624328" y="3611880"/>
            <a:chExt cx="1965960" cy="1325880"/>
          </a:xfrm>
        </p:grpSpPr>
        <p:sp>
          <p:nvSpPr>
            <p:cNvPr id="64" name="Shape 25">
              <a:extLst>
                <a:ext uri="{FF2B5EF4-FFF2-40B4-BE49-F238E27FC236}">
                  <a16:creationId xmlns:a16="http://schemas.microsoft.com/office/drawing/2014/main" id="{CF44C10A-3181-FEEC-4267-0645C0492E41}"/>
                </a:ext>
              </a:extLst>
            </p:cNvPr>
            <p:cNvSpPr/>
            <p:nvPr/>
          </p:nvSpPr>
          <p:spPr>
            <a:xfrm>
              <a:off x="2624328" y="3611880"/>
              <a:ext cx="1965960" cy="1325880"/>
            </a:xfrm>
            <a:prstGeom prst="roundRect">
              <a:avLst>
                <a:gd name="adj" fmla="val 5517"/>
              </a:avLst>
            </a:prstGeom>
            <a:solidFill>
              <a:srgbClr val="FFFFFF"/>
            </a:solidFill>
            <a:ln w="12700">
              <a:solidFill>
                <a:srgbClr val="D8E4E8"/>
              </a:solidFill>
              <a:prstDash val="solid"/>
            </a:ln>
          </p:spPr>
        </p:sp>
        <p:sp>
          <p:nvSpPr>
            <p:cNvPr id="65" name="Shape 26">
              <a:extLst>
                <a:ext uri="{FF2B5EF4-FFF2-40B4-BE49-F238E27FC236}">
                  <a16:creationId xmlns:a16="http://schemas.microsoft.com/office/drawing/2014/main" id="{7BC32CE1-F731-99C8-2371-FFC85FCCD3FB}"/>
                </a:ext>
              </a:extLst>
            </p:cNvPr>
            <p:cNvSpPr/>
            <p:nvPr/>
          </p:nvSpPr>
          <p:spPr>
            <a:xfrm>
              <a:off x="2624328" y="3611880"/>
              <a:ext cx="1965960" cy="45720"/>
            </a:xfrm>
            <a:prstGeom prst="rect">
              <a:avLst/>
            </a:prstGeom>
            <a:solidFill>
              <a:srgbClr val="2D4A6B"/>
            </a:solidFill>
            <a:ln w="12700">
              <a:solidFill>
                <a:srgbClr val="2D4A6B"/>
              </a:solidFill>
              <a:prstDash val="solid"/>
            </a:ln>
          </p:spPr>
        </p:sp>
        <p:sp>
          <p:nvSpPr>
            <p:cNvPr id="66" name="Text 27">
              <a:extLst>
                <a:ext uri="{FF2B5EF4-FFF2-40B4-BE49-F238E27FC236}">
                  <a16:creationId xmlns:a16="http://schemas.microsoft.com/office/drawing/2014/main" id="{2722FF89-9F0E-DA97-55B4-3A36E3365EB4}"/>
                </a:ext>
              </a:extLst>
            </p:cNvPr>
            <p:cNvSpPr/>
            <p:nvPr/>
          </p:nvSpPr>
          <p:spPr>
            <a:xfrm>
              <a:off x="2761488" y="3703320"/>
              <a:ext cx="1691640" cy="566928"/>
            </a:xfrm>
            <a:prstGeom prst="rect">
              <a:avLst/>
            </a:prstGeom>
            <a:noFill/>
            <a:ln/>
          </p:spPr>
          <p:txBody>
            <a:bodyPr wrap="square" rtlCol="0" anchor="ctr"/>
            <a:lstStyle/>
            <a:p>
              <a:pPr marL="0" indent="0" algn="l">
                <a:buNone/>
              </a:pPr>
              <a:r>
                <a:rPr lang="en-US" sz="3400" b="1" dirty="0">
                  <a:solidFill>
                    <a:srgbClr val="2D4A6B"/>
                  </a:solidFill>
                  <a:latin typeface="Calibri" pitchFamily="34" charset="0"/>
                  <a:ea typeface="Calibri" pitchFamily="34" charset="-122"/>
                  <a:cs typeface="Calibri" pitchFamily="34" charset="-120"/>
                </a:rPr>
                <a:t>4.0</a:t>
              </a:r>
              <a:endParaRPr lang="en-US" sz="3400" dirty="0"/>
            </a:p>
          </p:txBody>
        </p:sp>
        <p:sp>
          <p:nvSpPr>
            <p:cNvPr id="67" name="Text 28">
              <a:extLst>
                <a:ext uri="{FF2B5EF4-FFF2-40B4-BE49-F238E27FC236}">
                  <a16:creationId xmlns:a16="http://schemas.microsoft.com/office/drawing/2014/main" id="{3E482CCA-F678-B7A0-4441-9D3EDE1B7450}"/>
                </a:ext>
              </a:extLst>
            </p:cNvPr>
            <p:cNvSpPr/>
            <p:nvPr/>
          </p:nvSpPr>
          <p:spPr>
            <a:xfrm>
              <a:off x="2761488" y="4297680"/>
              <a:ext cx="1691640" cy="502920"/>
            </a:xfrm>
            <a:prstGeom prst="rect">
              <a:avLst/>
            </a:prstGeom>
            <a:noFill/>
            <a:ln/>
          </p:spPr>
          <p:txBody>
            <a:bodyPr wrap="square" rtlCol="0" anchor="ctr"/>
            <a:lstStyle/>
            <a:p>
              <a:pPr marL="0" indent="0">
                <a:lnSpc>
                  <a:spcPct val="125000"/>
                </a:lnSpc>
                <a:buNone/>
              </a:pPr>
              <a:r>
                <a:rPr lang="en-US" sz="1000" dirty="0">
                  <a:solidFill>
                    <a:srgbClr val="4A6272"/>
                  </a:solidFill>
                  <a:ea typeface="Calibri" pitchFamily="34" charset="-122"/>
                  <a:cs typeface="Calibri" pitchFamily="34" charset="-120"/>
                </a:rPr>
                <a:t>Tazama watershed</a:t>
              </a:r>
              <a:endParaRPr lang="en-US" sz="1000" dirty="0"/>
            </a:p>
            <a:p>
              <a:pPr marL="0" indent="0">
                <a:lnSpc>
                  <a:spcPct val="125000"/>
                </a:lnSpc>
                <a:buNone/>
              </a:pPr>
              <a:r>
                <a:rPr lang="en-US" sz="1000" dirty="0">
                  <a:solidFill>
                    <a:srgbClr val="4A6272"/>
                  </a:solidFill>
                  <a:ea typeface="Calibri" pitchFamily="34" charset="-122"/>
                  <a:cs typeface="Calibri" pitchFamily="34" charset="-120"/>
                </a:rPr>
                <a:t>release for broad adoption</a:t>
              </a:r>
              <a:endParaRPr lang="en-US" sz="1000" dirty="0"/>
            </a:p>
          </p:txBody>
        </p:sp>
      </p:grpSp>
      <p:grpSp>
        <p:nvGrpSpPr>
          <p:cNvPr id="68" name="Group 67">
            <a:extLst>
              <a:ext uri="{FF2B5EF4-FFF2-40B4-BE49-F238E27FC236}">
                <a16:creationId xmlns:a16="http://schemas.microsoft.com/office/drawing/2014/main" id="{C3B6121E-DA24-2029-3B4E-05945127AF77}"/>
              </a:ext>
            </a:extLst>
          </p:cNvPr>
          <p:cNvGrpSpPr/>
          <p:nvPr/>
        </p:nvGrpSpPr>
        <p:grpSpPr>
          <a:xfrm>
            <a:off x="4758518" y="3589839"/>
            <a:ext cx="1965960" cy="1226073"/>
            <a:chOff x="4745736" y="3611880"/>
            <a:chExt cx="1965960" cy="1325880"/>
          </a:xfrm>
        </p:grpSpPr>
        <p:sp>
          <p:nvSpPr>
            <p:cNvPr id="69" name="Shape 29">
              <a:extLst>
                <a:ext uri="{FF2B5EF4-FFF2-40B4-BE49-F238E27FC236}">
                  <a16:creationId xmlns:a16="http://schemas.microsoft.com/office/drawing/2014/main" id="{13AAF8DF-CA25-503D-FF3B-74C6BA53EFD3}"/>
                </a:ext>
              </a:extLst>
            </p:cNvPr>
            <p:cNvSpPr/>
            <p:nvPr/>
          </p:nvSpPr>
          <p:spPr>
            <a:xfrm>
              <a:off x="4745736" y="3611880"/>
              <a:ext cx="1965960" cy="1325880"/>
            </a:xfrm>
            <a:prstGeom prst="roundRect">
              <a:avLst>
                <a:gd name="adj" fmla="val 5517"/>
              </a:avLst>
            </a:prstGeom>
            <a:solidFill>
              <a:srgbClr val="FFFFFF"/>
            </a:solidFill>
            <a:ln w="12700">
              <a:solidFill>
                <a:srgbClr val="D8E4E8"/>
              </a:solidFill>
              <a:prstDash val="solid"/>
            </a:ln>
          </p:spPr>
        </p:sp>
        <p:sp>
          <p:nvSpPr>
            <p:cNvPr id="70" name="Shape 30">
              <a:extLst>
                <a:ext uri="{FF2B5EF4-FFF2-40B4-BE49-F238E27FC236}">
                  <a16:creationId xmlns:a16="http://schemas.microsoft.com/office/drawing/2014/main" id="{1B673CE7-B8C3-3C00-3160-0380342FA114}"/>
                </a:ext>
              </a:extLst>
            </p:cNvPr>
            <p:cNvSpPr/>
            <p:nvPr/>
          </p:nvSpPr>
          <p:spPr>
            <a:xfrm>
              <a:off x="4745736" y="3611880"/>
              <a:ext cx="1965960" cy="45720"/>
            </a:xfrm>
            <a:prstGeom prst="rect">
              <a:avLst/>
            </a:prstGeom>
            <a:solidFill>
              <a:srgbClr val="00897B"/>
            </a:solidFill>
            <a:ln w="12700">
              <a:solidFill>
                <a:srgbClr val="00897B"/>
              </a:solidFill>
              <a:prstDash val="solid"/>
            </a:ln>
          </p:spPr>
        </p:sp>
        <p:sp>
          <p:nvSpPr>
            <p:cNvPr id="71" name="Text 31">
              <a:extLst>
                <a:ext uri="{FF2B5EF4-FFF2-40B4-BE49-F238E27FC236}">
                  <a16:creationId xmlns:a16="http://schemas.microsoft.com/office/drawing/2014/main" id="{5C5C0EEC-2C13-8C2F-7C46-5A41E5CFBFAD}"/>
                </a:ext>
              </a:extLst>
            </p:cNvPr>
            <p:cNvSpPr/>
            <p:nvPr/>
          </p:nvSpPr>
          <p:spPr>
            <a:xfrm>
              <a:off x="4882896" y="3703320"/>
              <a:ext cx="1691640" cy="566928"/>
            </a:xfrm>
            <a:prstGeom prst="rect">
              <a:avLst/>
            </a:prstGeom>
            <a:noFill/>
            <a:ln/>
          </p:spPr>
          <p:txBody>
            <a:bodyPr wrap="square" rtlCol="0" anchor="ctr"/>
            <a:lstStyle/>
            <a:p>
              <a:pPr marL="0" indent="0" algn="l">
                <a:buNone/>
              </a:pPr>
              <a:r>
                <a:rPr lang="en-US" sz="3400" b="1" dirty="0">
                  <a:solidFill>
                    <a:srgbClr val="00897B"/>
                  </a:solidFill>
                  <a:latin typeface="Calibri" pitchFamily="34" charset="0"/>
                  <a:ea typeface="Calibri" pitchFamily="34" charset="-122"/>
                  <a:cs typeface="Calibri" pitchFamily="34" charset="-120"/>
                </a:rPr>
                <a:t>50</a:t>
              </a:r>
              <a:endParaRPr lang="en-US" sz="3400" dirty="0"/>
            </a:p>
          </p:txBody>
        </p:sp>
        <p:sp>
          <p:nvSpPr>
            <p:cNvPr id="72" name="Text 32">
              <a:extLst>
                <a:ext uri="{FF2B5EF4-FFF2-40B4-BE49-F238E27FC236}">
                  <a16:creationId xmlns:a16="http://schemas.microsoft.com/office/drawing/2014/main" id="{EFE5B650-C29A-1841-E696-95DCB471F90D}"/>
                </a:ext>
              </a:extLst>
            </p:cNvPr>
            <p:cNvSpPr/>
            <p:nvPr/>
          </p:nvSpPr>
          <p:spPr>
            <a:xfrm>
              <a:off x="4882896" y="4297680"/>
              <a:ext cx="1691640" cy="502920"/>
            </a:xfrm>
            <a:prstGeom prst="rect">
              <a:avLst/>
            </a:prstGeom>
            <a:noFill/>
            <a:ln/>
          </p:spPr>
          <p:txBody>
            <a:bodyPr wrap="square" rtlCol="0" anchor="ctr"/>
            <a:lstStyle/>
            <a:p>
              <a:pPr marL="0" indent="0">
                <a:lnSpc>
                  <a:spcPct val="125000"/>
                </a:lnSpc>
                <a:buNone/>
              </a:pPr>
              <a:r>
                <a:rPr lang="en-US" sz="1000" dirty="0">
                  <a:solidFill>
                    <a:srgbClr val="4A6272"/>
                  </a:solidFill>
                  <a:latin typeface="Calibri" pitchFamily="34" charset="0"/>
                  <a:ea typeface="Calibri" pitchFamily="34" charset="-122"/>
                  <a:cs typeface="Calibri" pitchFamily="34" charset="-120"/>
                </a:rPr>
                <a:t>countries targeted</a:t>
              </a:r>
              <a:endParaRPr lang="en-US" sz="1000" dirty="0"/>
            </a:p>
            <a:p>
              <a:pPr marL="0" indent="0">
                <a:lnSpc>
                  <a:spcPct val="125000"/>
                </a:lnSpc>
                <a:buNone/>
              </a:pPr>
              <a:r>
                <a:rPr lang="en-US" sz="1000" dirty="0">
                  <a:solidFill>
                    <a:srgbClr val="4A6272"/>
                  </a:solidFill>
                  <a:latin typeface="Calibri" pitchFamily="34" charset="0"/>
                  <a:ea typeface="Calibri" pitchFamily="34" charset="-122"/>
                  <a:cs typeface="Calibri" pitchFamily="34" charset="-120"/>
                </a:rPr>
                <a:t>by 2030</a:t>
              </a:r>
              <a:endParaRPr lang="en-US" sz="1000" dirty="0"/>
            </a:p>
          </p:txBody>
        </p:sp>
      </p:grpSp>
      <p:grpSp>
        <p:nvGrpSpPr>
          <p:cNvPr id="73" name="Group 72">
            <a:extLst>
              <a:ext uri="{FF2B5EF4-FFF2-40B4-BE49-F238E27FC236}">
                <a16:creationId xmlns:a16="http://schemas.microsoft.com/office/drawing/2014/main" id="{E305B28E-2957-3ECC-D56D-09CF8EE80A76}"/>
              </a:ext>
            </a:extLst>
          </p:cNvPr>
          <p:cNvGrpSpPr/>
          <p:nvPr/>
        </p:nvGrpSpPr>
        <p:grpSpPr>
          <a:xfrm>
            <a:off x="6879926" y="3589839"/>
            <a:ext cx="1965960" cy="1226073"/>
            <a:chOff x="6867144" y="3611880"/>
            <a:chExt cx="1965960" cy="1325880"/>
          </a:xfrm>
        </p:grpSpPr>
        <p:sp>
          <p:nvSpPr>
            <p:cNvPr id="74" name="Shape 33">
              <a:extLst>
                <a:ext uri="{FF2B5EF4-FFF2-40B4-BE49-F238E27FC236}">
                  <a16:creationId xmlns:a16="http://schemas.microsoft.com/office/drawing/2014/main" id="{BCE750F6-2503-C1D1-1950-B1A0BCC4C845}"/>
                </a:ext>
              </a:extLst>
            </p:cNvPr>
            <p:cNvSpPr/>
            <p:nvPr/>
          </p:nvSpPr>
          <p:spPr>
            <a:xfrm>
              <a:off x="6867144" y="3611880"/>
              <a:ext cx="1965960" cy="1325880"/>
            </a:xfrm>
            <a:prstGeom prst="roundRect">
              <a:avLst>
                <a:gd name="adj" fmla="val 5517"/>
              </a:avLst>
            </a:prstGeom>
            <a:solidFill>
              <a:srgbClr val="FFFFFF"/>
            </a:solidFill>
            <a:ln w="12700">
              <a:solidFill>
                <a:srgbClr val="D8E4E8"/>
              </a:solidFill>
              <a:prstDash val="solid"/>
            </a:ln>
          </p:spPr>
        </p:sp>
        <p:sp>
          <p:nvSpPr>
            <p:cNvPr id="75" name="Shape 34">
              <a:extLst>
                <a:ext uri="{FF2B5EF4-FFF2-40B4-BE49-F238E27FC236}">
                  <a16:creationId xmlns:a16="http://schemas.microsoft.com/office/drawing/2014/main" id="{1D0C8ACC-889C-D44F-7153-F5ED06742D89}"/>
                </a:ext>
              </a:extLst>
            </p:cNvPr>
            <p:cNvSpPr/>
            <p:nvPr/>
          </p:nvSpPr>
          <p:spPr>
            <a:xfrm>
              <a:off x="6867144" y="3611880"/>
              <a:ext cx="1965960" cy="45720"/>
            </a:xfrm>
            <a:prstGeom prst="rect">
              <a:avLst/>
            </a:prstGeom>
            <a:solidFill>
              <a:srgbClr val="B7860B"/>
            </a:solidFill>
            <a:ln w="12700">
              <a:solidFill>
                <a:srgbClr val="B7860B"/>
              </a:solidFill>
              <a:prstDash val="solid"/>
            </a:ln>
          </p:spPr>
        </p:sp>
        <p:sp>
          <p:nvSpPr>
            <p:cNvPr id="76" name="Text 35">
              <a:extLst>
                <a:ext uri="{FF2B5EF4-FFF2-40B4-BE49-F238E27FC236}">
                  <a16:creationId xmlns:a16="http://schemas.microsoft.com/office/drawing/2014/main" id="{93405741-8B1D-234F-59E5-328853AD5E61}"/>
                </a:ext>
              </a:extLst>
            </p:cNvPr>
            <p:cNvSpPr/>
            <p:nvPr/>
          </p:nvSpPr>
          <p:spPr>
            <a:xfrm>
              <a:off x="7004304" y="3703319"/>
              <a:ext cx="1691640" cy="530352"/>
            </a:xfrm>
            <a:prstGeom prst="rect">
              <a:avLst/>
            </a:prstGeom>
            <a:noFill/>
            <a:ln/>
          </p:spPr>
          <p:txBody>
            <a:bodyPr wrap="square" rtlCol="0" anchor="ctr"/>
            <a:lstStyle/>
            <a:p>
              <a:pPr marL="0" indent="0" algn="l">
                <a:buNone/>
              </a:pPr>
              <a:r>
                <a:rPr lang="en-US" sz="3400" b="1" dirty="0">
                  <a:solidFill>
                    <a:srgbClr val="B7860B"/>
                  </a:solidFill>
                  <a:latin typeface="Calibri" pitchFamily="34" charset="0"/>
                  <a:ea typeface="Calibri" pitchFamily="34" charset="-122"/>
                  <a:cs typeface="Calibri" pitchFamily="34" charset="-120"/>
                </a:rPr>
                <a:t>∞</a:t>
              </a:r>
              <a:endParaRPr lang="en-US" sz="3400" dirty="0"/>
            </a:p>
          </p:txBody>
        </p:sp>
        <p:sp>
          <p:nvSpPr>
            <p:cNvPr id="77" name="Text 36">
              <a:extLst>
                <a:ext uri="{FF2B5EF4-FFF2-40B4-BE49-F238E27FC236}">
                  <a16:creationId xmlns:a16="http://schemas.microsoft.com/office/drawing/2014/main" id="{A34F00E5-8287-0858-90B2-AAD8D6AC0BF0}"/>
                </a:ext>
              </a:extLst>
            </p:cNvPr>
            <p:cNvSpPr/>
            <p:nvPr/>
          </p:nvSpPr>
          <p:spPr>
            <a:xfrm>
              <a:off x="7004304" y="4167149"/>
              <a:ext cx="1828800" cy="633451"/>
            </a:xfrm>
            <a:prstGeom prst="rect">
              <a:avLst/>
            </a:prstGeom>
            <a:noFill/>
            <a:ln/>
          </p:spPr>
          <p:txBody>
            <a:bodyPr wrap="square" rtlCol="0" anchor="ctr"/>
            <a:lstStyle/>
            <a:p>
              <a:pPr>
                <a:lnSpc>
                  <a:spcPct val="125000"/>
                </a:lnSpc>
              </a:pPr>
              <a:r>
                <a:rPr lang="en-US" sz="1000" dirty="0">
                  <a:solidFill>
                    <a:srgbClr val="4A6272"/>
                  </a:solidFill>
                  <a:latin typeface="Calibri" pitchFamily="34" charset="0"/>
                  <a:ea typeface="Calibri" pitchFamily="34" charset="-122"/>
                  <a:cs typeface="Calibri" pitchFamily="34" charset="-120"/>
                </a:rPr>
                <a:t>Low-cost open-source  fraud monitoring system  accessible to any Instant Payments System operator"</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83680" y="457200"/>
            <a:ext cx="2743200" cy="3840480"/>
          </a:xfrm>
          <a:prstGeom prst="rect">
            <a:avLst/>
          </a:prstGeom>
          <a:noFill/>
          <a:ln/>
        </p:spPr>
        <p:txBody>
          <a:bodyPr wrap="square" rtlCol="0" anchor="ctr"/>
          <a:lstStyle/>
          <a:p>
            <a:pPr marL="0" indent="0" algn="ctr">
              <a:buNone/>
            </a:pPr>
            <a:r>
              <a:rPr lang="en-US" sz="18000" b="1" dirty="0">
                <a:solidFill>
                  <a:srgbClr val="EAF5F5"/>
                </a:solidFill>
                <a:latin typeface="Calibri" pitchFamily="34" charset="0"/>
                <a:ea typeface="Calibri" pitchFamily="34" charset="-122"/>
                <a:cs typeface="Calibri" pitchFamily="34" charset="-120"/>
              </a:rPr>
              <a:t>05</a:t>
            </a:r>
            <a:endParaRPr lang="en-US" sz="18000" dirty="0"/>
          </a:p>
        </p:txBody>
      </p:sp>
      <p:sp>
        <p:nvSpPr>
          <p:cNvPr id="3" name="Shape 1"/>
          <p:cNvSpPr/>
          <p:nvPr/>
        </p:nvSpPr>
        <p:spPr>
          <a:xfrm>
            <a:off x="0" y="0"/>
            <a:ext cx="320040" cy="5143500"/>
          </a:xfrm>
          <a:prstGeom prst="rect">
            <a:avLst/>
          </a:prstGeom>
          <a:solidFill>
            <a:srgbClr val="006D6F"/>
          </a:solidFill>
          <a:ln w="12700">
            <a:solidFill>
              <a:srgbClr val="006D6F"/>
            </a:solidFill>
            <a:prstDash val="solid"/>
          </a:ln>
        </p:spPr>
      </p:sp>
      <p:sp>
        <p:nvSpPr>
          <p:cNvPr id="4" name="Text 2"/>
          <p:cNvSpPr/>
          <p:nvPr/>
        </p:nvSpPr>
        <p:spPr>
          <a:xfrm>
            <a:off x="502920" y="219456"/>
            <a:ext cx="3657600" cy="201168"/>
          </a:xfrm>
          <a:prstGeom prst="rect">
            <a:avLst/>
          </a:prstGeom>
          <a:noFill/>
          <a:ln/>
        </p:spPr>
        <p:txBody>
          <a:bodyPr wrap="square" rtlCol="0" anchor="ctr"/>
          <a:lstStyle/>
          <a:p>
            <a:pPr marL="0" indent="0">
              <a:buNone/>
            </a:pPr>
            <a:r>
              <a:rPr lang="en-US" sz="1400" b="1" kern="0" spc="200" dirty="0">
                <a:solidFill>
                  <a:srgbClr val="006D6F"/>
                </a:solidFill>
                <a:latin typeface="Calibri" pitchFamily="34" charset="0"/>
                <a:ea typeface="Calibri" pitchFamily="34" charset="-122"/>
                <a:cs typeface="Calibri" pitchFamily="34" charset="-120"/>
              </a:rPr>
              <a:t>TECHNICAL DEPTH</a:t>
            </a:r>
            <a:endParaRPr lang="en-US" sz="1400" dirty="0"/>
          </a:p>
        </p:txBody>
      </p:sp>
      <p:sp>
        <p:nvSpPr>
          <p:cNvPr id="5" name="Text 3"/>
          <p:cNvSpPr/>
          <p:nvPr/>
        </p:nvSpPr>
        <p:spPr>
          <a:xfrm>
            <a:off x="502920" y="431292"/>
            <a:ext cx="7772400" cy="421899"/>
          </a:xfrm>
          <a:prstGeom prst="rect">
            <a:avLst/>
          </a:prstGeom>
          <a:noFill/>
          <a:ln/>
        </p:spPr>
        <p:txBody>
          <a:bodyPr wrap="square" rtlCol="0" anchor="ctr"/>
          <a:lstStyle/>
          <a:p>
            <a:pPr marL="0" indent="0">
              <a:buNone/>
            </a:pPr>
            <a:r>
              <a:rPr lang="en-US" sz="2800" b="1" dirty="0">
                <a:solidFill>
                  <a:srgbClr val="1C2B3A"/>
                </a:solidFill>
                <a:latin typeface="Calibri" pitchFamily="34" charset="0"/>
                <a:ea typeface="Calibri" pitchFamily="34" charset="-122"/>
                <a:cs typeface="Calibri" pitchFamily="34" charset="-120"/>
              </a:rPr>
              <a:t>Behind the Scenes</a:t>
            </a:r>
            <a:endParaRPr lang="en-US" sz="2800" dirty="0"/>
          </a:p>
        </p:txBody>
      </p:sp>
      <p:sp>
        <p:nvSpPr>
          <p:cNvPr id="9" name="Shape 7"/>
          <p:cNvSpPr/>
          <p:nvPr/>
        </p:nvSpPr>
        <p:spPr>
          <a:xfrm>
            <a:off x="502920" y="1920240"/>
            <a:ext cx="2743200" cy="384048"/>
          </a:xfrm>
          <a:prstGeom prst="rect">
            <a:avLst/>
          </a:prstGeom>
          <a:solidFill>
            <a:srgbClr val="F4F6F8"/>
          </a:solidFill>
          <a:ln w="12700">
            <a:solidFill>
              <a:srgbClr val="F4F6F8"/>
            </a:solidFill>
            <a:prstDash val="solid"/>
          </a:ln>
        </p:spPr>
      </p:sp>
      <p:sp>
        <p:nvSpPr>
          <p:cNvPr id="14" name="Shape 12"/>
          <p:cNvSpPr/>
          <p:nvPr/>
        </p:nvSpPr>
        <p:spPr>
          <a:xfrm>
            <a:off x="502920" y="2688336"/>
            <a:ext cx="2743200" cy="384048"/>
          </a:xfrm>
          <a:prstGeom prst="rect">
            <a:avLst/>
          </a:prstGeom>
          <a:solidFill>
            <a:srgbClr val="F4F6F8"/>
          </a:solidFill>
          <a:ln w="12700">
            <a:solidFill>
              <a:srgbClr val="F4F6F8"/>
            </a:solidFill>
            <a:prstDash val="solid"/>
          </a:ln>
        </p:spPr>
      </p:sp>
      <p:sp>
        <p:nvSpPr>
          <p:cNvPr id="19" name="Shape 17"/>
          <p:cNvSpPr/>
          <p:nvPr/>
        </p:nvSpPr>
        <p:spPr>
          <a:xfrm>
            <a:off x="502920" y="3456432"/>
            <a:ext cx="2743200" cy="384048"/>
          </a:xfrm>
          <a:prstGeom prst="rect">
            <a:avLst/>
          </a:prstGeom>
          <a:solidFill>
            <a:srgbClr val="F4F6F8"/>
          </a:solidFill>
          <a:ln w="12700">
            <a:solidFill>
              <a:srgbClr val="F4F6F8"/>
            </a:solidFill>
            <a:prstDash val="solid"/>
          </a:ln>
        </p:spPr>
      </p:sp>
      <p:sp>
        <p:nvSpPr>
          <p:cNvPr id="24" name="Shape 22"/>
          <p:cNvSpPr/>
          <p:nvPr/>
        </p:nvSpPr>
        <p:spPr>
          <a:xfrm>
            <a:off x="502920" y="4224528"/>
            <a:ext cx="2743200" cy="384048"/>
          </a:xfrm>
          <a:prstGeom prst="rect">
            <a:avLst/>
          </a:prstGeom>
          <a:solidFill>
            <a:srgbClr val="F4F6F8"/>
          </a:solidFill>
          <a:ln w="12700">
            <a:solidFill>
              <a:srgbClr val="F4F6F8"/>
            </a:solidFill>
            <a:prstDash val="solid"/>
          </a:ln>
        </p:spPr>
      </p:sp>
      <p:grpSp>
        <p:nvGrpSpPr>
          <p:cNvPr id="65" name="Group 64">
            <a:extLst>
              <a:ext uri="{FF2B5EF4-FFF2-40B4-BE49-F238E27FC236}">
                <a16:creationId xmlns:a16="http://schemas.microsoft.com/office/drawing/2014/main" id="{B0031199-FA7C-687D-CA41-1DD31BECFFE1}"/>
              </a:ext>
            </a:extLst>
          </p:cNvPr>
          <p:cNvGrpSpPr/>
          <p:nvPr/>
        </p:nvGrpSpPr>
        <p:grpSpPr>
          <a:xfrm>
            <a:off x="487680" y="943798"/>
            <a:ext cx="2743200" cy="3619058"/>
            <a:chOff x="502920" y="1417320"/>
            <a:chExt cx="2743200" cy="3520440"/>
          </a:xfrm>
        </p:grpSpPr>
        <p:sp>
          <p:nvSpPr>
            <p:cNvPr id="6" name="Shape 4"/>
            <p:cNvSpPr/>
            <p:nvPr/>
          </p:nvSpPr>
          <p:spPr>
            <a:xfrm>
              <a:off x="502920" y="1417320"/>
              <a:ext cx="2743200" cy="3520440"/>
            </a:xfrm>
            <a:prstGeom prst="roundRect">
              <a:avLst>
                <a:gd name="adj" fmla="val 2667"/>
              </a:avLst>
            </a:prstGeom>
            <a:solidFill>
              <a:srgbClr val="FFFFFF"/>
            </a:solidFill>
            <a:ln w="12700">
              <a:solidFill>
                <a:srgbClr val="D8E4E8"/>
              </a:solidFill>
              <a:prstDash val="solid"/>
            </a:ln>
          </p:spPr>
        </p:sp>
        <p:grpSp>
          <p:nvGrpSpPr>
            <p:cNvPr id="64" name="Group 63">
              <a:extLst>
                <a:ext uri="{FF2B5EF4-FFF2-40B4-BE49-F238E27FC236}">
                  <a16:creationId xmlns:a16="http://schemas.microsoft.com/office/drawing/2014/main" id="{F6C7DC2D-A940-1EE4-08D7-AD9DF5DE9B02}"/>
                </a:ext>
              </a:extLst>
            </p:cNvPr>
            <p:cNvGrpSpPr/>
            <p:nvPr/>
          </p:nvGrpSpPr>
          <p:grpSpPr>
            <a:xfrm>
              <a:off x="658368" y="1572768"/>
              <a:ext cx="2478024" cy="2962656"/>
              <a:chOff x="658368" y="1572768"/>
              <a:chExt cx="2478024" cy="2962656"/>
            </a:xfrm>
          </p:grpSpPr>
          <p:sp>
            <p:nvSpPr>
              <p:cNvPr id="7" name="Text 5"/>
              <p:cNvSpPr/>
              <p:nvPr/>
            </p:nvSpPr>
            <p:spPr>
              <a:xfrm>
                <a:off x="685800" y="1572768"/>
                <a:ext cx="2377440" cy="201168"/>
              </a:xfrm>
              <a:prstGeom prst="rect">
                <a:avLst/>
              </a:prstGeom>
              <a:noFill/>
              <a:ln/>
            </p:spPr>
            <p:txBody>
              <a:bodyPr wrap="square" rtlCol="0" anchor="ctr"/>
              <a:lstStyle/>
              <a:p>
                <a:pPr marL="0" indent="0">
                  <a:buNone/>
                </a:pPr>
                <a:r>
                  <a:rPr lang="en-US" sz="1000" b="1" kern="0" spc="200" dirty="0">
                    <a:solidFill>
                      <a:srgbClr val="006D6F"/>
                    </a:solidFill>
                    <a:latin typeface="Calibri" pitchFamily="34" charset="0"/>
                    <a:ea typeface="Calibri" pitchFamily="34" charset="-122"/>
                    <a:cs typeface="Calibri" pitchFamily="34" charset="-120"/>
                  </a:rPr>
                  <a:t>DATA SOURCES</a:t>
                </a:r>
                <a:endParaRPr lang="en-US" sz="1000" dirty="0"/>
              </a:p>
            </p:txBody>
          </p:sp>
          <p:sp>
            <p:nvSpPr>
              <p:cNvPr id="8" name="Shape 6"/>
              <p:cNvSpPr/>
              <p:nvPr/>
            </p:nvSpPr>
            <p:spPr>
              <a:xfrm>
                <a:off x="685800" y="1792224"/>
                <a:ext cx="2377440" cy="13716"/>
              </a:xfrm>
              <a:prstGeom prst="rect">
                <a:avLst/>
              </a:prstGeom>
              <a:solidFill>
                <a:srgbClr val="D8E4E8"/>
              </a:solidFill>
              <a:ln w="12700">
                <a:solidFill>
                  <a:srgbClr val="D8E4E8"/>
                </a:solidFill>
                <a:prstDash val="solid"/>
              </a:ln>
            </p:spPr>
          </p:sp>
          <p:sp>
            <p:nvSpPr>
              <p:cNvPr id="10" name="Text 8"/>
              <p:cNvSpPr/>
              <p:nvPr/>
            </p:nvSpPr>
            <p:spPr>
              <a:xfrm>
                <a:off x="658368" y="1975104"/>
                <a:ext cx="1371600" cy="256032"/>
              </a:xfrm>
              <a:prstGeom prst="rect">
                <a:avLst/>
              </a:prstGeom>
              <a:noFill/>
              <a:ln/>
            </p:spPr>
            <p:txBody>
              <a:bodyPr wrap="square" rtlCol="0" anchor="ctr"/>
              <a:lstStyle/>
              <a:p>
                <a:pPr marL="0" indent="0">
                  <a:buNone/>
                </a:pPr>
                <a:r>
                  <a:rPr lang="en-US" sz="900" b="1" dirty="0">
                    <a:solidFill>
                      <a:srgbClr val="006D6F"/>
                    </a:solidFill>
                    <a:ea typeface="Courier New" pitchFamily="34" charset="-122"/>
                    <a:cs typeface="Courier New" pitchFamily="34" charset="-120"/>
                  </a:rPr>
                  <a:t>gold/evaluation</a:t>
                </a:r>
                <a:endParaRPr lang="en-US" sz="900" dirty="0"/>
              </a:p>
            </p:txBody>
          </p:sp>
          <p:sp>
            <p:nvSpPr>
              <p:cNvPr id="11" name="Text 9"/>
              <p:cNvSpPr/>
              <p:nvPr/>
            </p:nvSpPr>
            <p:spPr>
              <a:xfrm>
                <a:off x="2057400" y="1975104"/>
                <a:ext cx="1078992" cy="256032"/>
              </a:xfrm>
              <a:prstGeom prst="rect">
                <a:avLst/>
              </a:prstGeom>
              <a:noFill/>
              <a:ln/>
            </p:spPr>
            <p:txBody>
              <a:bodyPr wrap="square" rtlCol="0" anchor="ctr"/>
              <a:lstStyle/>
              <a:p>
                <a:pPr marL="0" indent="0">
                  <a:buNone/>
                </a:pPr>
                <a:r>
                  <a:rPr lang="en-US" sz="900" dirty="0">
                    <a:solidFill>
                      <a:srgbClr val="4A6272"/>
                    </a:solidFill>
                    <a:ea typeface="Calibri" pitchFamily="34" charset="-122"/>
                    <a:cs typeface="Calibri" pitchFamily="34" charset="-120"/>
                  </a:rPr>
                  <a:t>Alert dropdown + IDs + amount</a:t>
                </a:r>
                <a:endParaRPr lang="en-US" sz="900" dirty="0"/>
              </a:p>
            </p:txBody>
          </p:sp>
          <p:sp>
            <p:nvSpPr>
              <p:cNvPr id="12" name="Text 10"/>
              <p:cNvSpPr/>
              <p:nvPr/>
            </p:nvSpPr>
            <p:spPr>
              <a:xfrm>
                <a:off x="658368" y="2359152"/>
                <a:ext cx="1371600" cy="256032"/>
              </a:xfrm>
              <a:prstGeom prst="rect">
                <a:avLst/>
              </a:prstGeom>
              <a:noFill/>
              <a:ln/>
            </p:spPr>
            <p:txBody>
              <a:bodyPr wrap="square" rtlCol="0" anchor="ctr"/>
              <a:lstStyle/>
              <a:p>
                <a:pPr marL="0" indent="0">
                  <a:buNone/>
                </a:pPr>
                <a:r>
                  <a:rPr lang="en-US" sz="900" b="1" dirty="0">
                    <a:solidFill>
                      <a:srgbClr val="006D6F"/>
                    </a:solidFill>
                    <a:ea typeface="Courier New" pitchFamily="34" charset="-122"/>
                    <a:cs typeface="Courier New" pitchFamily="34" charset="-120"/>
                  </a:rPr>
                  <a:t>bronze/alerts</a:t>
                </a:r>
                <a:endParaRPr lang="en-US" sz="900" dirty="0"/>
              </a:p>
            </p:txBody>
          </p:sp>
          <p:sp>
            <p:nvSpPr>
              <p:cNvPr id="13" name="Text 11"/>
              <p:cNvSpPr/>
              <p:nvPr/>
            </p:nvSpPr>
            <p:spPr>
              <a:xfrm>
                <a:off x="2057400" y="2359152"/>
                <a:ext cx="1078992" cy="256032"/>
              </a:xfrm>
              <a:prstGeom prst="rect">
                <a:avLst/>
              </a:prstGeom>
              <a:noFill/>
              <a:ln/>
            </p:spPr>
            <p:txBody>
              <a:bodyPr wrap="square" rtlCol="0" anchor="ctr"/>
              <a:lstStyle/>
              <a:p>
                <a:pPr marL="0" indent="0">
                  <a:buNone/>
                </a:pPr>
                <a:r>
                  <a:rPr lang="en-US" sz="900" dirty="0">
                    <a:solidFill>
                      <a:srgbClr val="4A6272"/>
                    </a:solidFill>
                    <a:ea typeface="Calibri" pitchFamily="34" charset="-122"/>
                    <a:cs typeface="Calibri" pitchFamily="34" charset="-120"/>
                  </a:rPr>
                  <a:t>Rule weights, IVs, typology scores</a:t>
                </a:r>
                <a:endParaRPr lang="en-US" sz="900" dirty="0"/>
              </a:p>
            </p:txBody>
          </p:sp>
          <p:sp>
            <p:nvSpPr>
              <p:cNvPr id="15" name="Text 13"/>
              <p:cNvSpPr/>
              <p:nvPr/>
            </p:nvSpPr>
            <p:spPr>
              <a:xfrm>
                <a:off x="658368" y="2743200"/>
                <a:ext cx="1371600" cy="256032"/>
              </a:xfrm>
              <a:prstGeom prst="rect">
                <a:avLst/>
              </a:prstGeom>
              <a:noFill/>
              <a:ln/>
            </p:spPr>
            <p:txBody>
              <a:bodyPr wrap="square" rtlCol="0" anchor="ctr"/>
              <a:lstStyle/>
              <a:p>
                <a:pPr marL="0" indent="0">
                  <a:buNone/>
                </a:pPr>
                <a:r>
                  <a:rPr lang="en-US" sz="900" b="1" dirty="0">
                    <a:solidFill>
                      <a:srgbClr val="006D6F"/>
                    </a:solidFill>
                    <a:ea typeface="Courier New" pitchFamily="34" charset="-122"/>
                    <a:cs typeface="Courier New" pitchFamily="34" charset="-120"/>
                  </a:rPr>
                  <a:t>gold/pacs002</a:t>
                </a:r>
                <a:endParaRPr lang="en-US" sz="900" dirty="0"/>
              </a:p>
            </p:txBody>
          </p:sp>
          <p:sp>
            <p:nvSpPr>
              <p:cNvPr id="16" name="Text 14"/>
              <p:cNvSpPr/>
              <p:nvPr/>
            </p:nvSpPr>
            <p:spPr>
              <a:xfrm>
                <a:off x="2057400" y="2743200"/>
                <a:ext cx="1078992" cy="256032"/>
              </a:xfrm>
              <a:prstGeom prst="rect">
                <a:avLst/>
              </a:prstGeom>
              <a:noFill/>
              <a:ln/>
            </p:spPr>
            <p:txBody>
              <a:bodyPr wrap="square" rtlCol="0" anchor="ctr"/>
              <a:lstStyle/>
              <a:p>
                <a:pPr marL="0" indent="0">
                  <a:buNone/>
                </a:pPr>
                <a:r>
                  <a:rPr lang="en-US" sz="900" dirty="0">
                    <a:solidFill>
                      <a:srgbClr val="4A6272"/>
                    </a:solidFill>
                    <a:ea typeface="Calibri" pitchFamily="34" charset="-122"/>
                    <a:cs typeface="Calibri" pitchFamily="34" charset="-120"/>
                  </a:rPr>
                  <a:t>Transaction history for rule replay</a:t>
                </a:r>
                <a:endParaRPr lang="en-US" sz="900" dirty="0"/>
              </a:p>
            </p:txBody>
          </p:sp>
          <p:sp>
            <p:nvSpPr>
              <p:cNvPr id="17" name="Text 15"/>
              <p:cNvSpPr/>
              <p:nvPr/>
            </p:nvSpPr>
            <p:spPr>
              <a:xfrm>
                <a:off x="658368" y="3127248"/>
                <a:ext cx="1371600" cy="256032"/>
              </a:xfrm>
              <a:prstGeom prst="rect">
                <a:avLst/>
              </a:prstGeom>
              <a:noFill/>
              <a:ln/>
            </p:spPr>
            <p:txBody>
              <a:bodyPr wrap="square" rtlCol="0" anchor="ctr"/>
              <a:lstStyle/>
              <a:p>
                <a:pPr marL="0" indent="0">
                  <a:buNone/>
                </a:pPr>
                <a:r>
                  <a:rPr lang="en-US" sz="900" b="1" dirty="0">
                    <a:solidFill>
                      <a:srgbClr val="006D6F"/>
                    </a:solidFill>
                    <a:ea typeface="Courier New" pitchFamily="34" charset="-122"/>
                    <a:cs typeface="Courier New" pitchFamily="34" charset="-120"/>
                  </a:rPr>
                  <a:t>gold/pacs008</a:t>
                </a:r>
                <a:endParaRPr lang="en-US" sz="900" dirty="0"/>
              </a:p>
            </p:txBody>
          </p:sp>
          <p:sp>
            <p:nvSpPr>
              <p:cNvPr id="18" name="Text 16"/>
              <p:cNvSpPr/>
              <p:nvPr/>
            </p:nvSpPr>
            <p:spPr>
              <a:xfrm>
                <a:off x="2057400" y="3127248"/>
                <a:ext cx="1078992" cy="256032"/>
              </a:xfrm>
              <a:prstGeom prst="rect">
                <a:avLst/>
              </a:prstGeom>
              <a:noFill/>
              <a:ln/>
            </p:spPr>
            <p:txBody>
              <a:bodyPr wrap="square" rtlCol="0" anchor="ctr"/>
              <a:lstStyle/>
              <a:p>
                <a:pPr marL="0" indent="0">
                  <a:buNone/>
                </a:pPr>
                <a:r>
                  <a:rPr lang="en-US" sz="900" dirty="0">
                    <a:solidFill>
                      <a:srgbClr val="4A6272"/>
                    </a:solidFill>
                    <a:ea typeface="Calibri" pitchFamily="34" charset="-122"/>
                    <a:cs typeface="Calibri" pitchFamily="34" charset="-120"/>
                  </a:rPr>
                  <a:t>Purpose code, transaction details</a:t>
                </a:r>
                <a:endParaRPr lang="en-US" sz="900" dirty="0"/>
              </a:p>
            </p:txBody>
          </p:sp>
          <p:sp>
            <p:nvSpPr>
              <p:cNvPr id="20" name="Text 18"/>
              <p:cNvSpPr/>
              <p:nvPr/>
            </p:nvSpPr>
            <p:spPr>
              <a:xfrm>
                <a:off x="658368" y="3511296"/>
                <a:ext cx="1371600" cy="256032"/>
              </a:xfrm>
              <a:prstGeom prst="rect">
                <a:avLst/>
              </a:prstGeom>
              <a:noFill/>
              <a:ln/>
            </p:spPr>
            <p:txBody>
              <a:bodyPr wrap="square" rtlCol="0" anchor="ctr"/>
              <a:lstStyle/>
              <a:p>
                <a:pPr marL="0" indent="0">
                  <a:buNone/>
                </a:pPr>
                <a:r>
                  <a:rPr lang="en-US" sz="900" b="1" dirty="0">
                    <a:solidFill>
                      <a:srgbClr val="006D6F"/>
                    </a:solidFill>
                    <a:ea typeface="Courier New" pitchFamily="34" charset="-122"/>
                    <a:cs typeface="Courier New" pitchFamily="34" charset="-120"/>
                  </a:rPr>
                  <a:t>bronze/pacs008</a:t>
                </a:r>
                <a:endParaRPr lang="en-US" sz="900" dirty="0"/>
              </a:p>
            </p:txBody>
          </p:sp>
          <p:sp>
            <p:nvSpPr>
              <p:cNvPr id="21" name="Text 19"/>
              <p:cNvSpPr/>
              <p:nvPr/>
            </p:nvSpPr>
            <p:spPr>
              <a:xfrm>
                <a:off x="2057400" y="3511296"/>
                <a:ext cx="1078992" cy="256032"/>
              </a:xfrm>
              <a:prstGeom prst="rect">
                <a:avLst/>
              </a:prstGeom>
              <a:noFill/>
              <a:ln/>
            </p:spPr>
            <p:txBody>
              <a:bodyPr wrap="square" rtlCol="0" anchor="ctr"/>
              <a:lstStyle/>
              <a:p>
                <a:pPr marL="0" indent="0">
                  <a:buNone/>
                </a:pPr>
                <a:r>
                  <a:rPr lang="en-US" sz="900" dirty="0">
                    <a:solidFill>
                      <a:srgbClr val="4A6272"/>
                    </a:solidFill>
                    <a:ea typeface="Calibri" pitchFamily="34" charset="-122"/>
                    <a:cs typeface="Calibri" pitchFamily="34" charset="-120"/>
                  </a:rPr>
                  <a:t>Date of birth — Rule-028</a:t>
                </a:r>
                <a:endParaRPr lang="en-US" sz="900" dirty="0"/>
              </a:p>
            </p:txBody>
          </p:sp>
          <p:sp>
            <p:nvSpPr>
              <p:cNvPr id="22" name="Text 20"/>
              <p:cNvSpPr/>
              <p:nvPr/>
            </p:nvSpPr>
            <p:spPr>
              <a:xfrm>
                <a:off x="658368" y="3895344"/>
                <a:ext cx="1371600" cy="256032"/>
              </a:xfrm>
              <a:prstGeom prst="rect">
                <a:avLst/>
              </a:prstGeom>
              <a:noFill/>
              <a:ln/>
            </p:spPr>
            <p:txBody>
              <a:bodyPr wrap="square" rtlCol="0" anchor="ctr"/>
              <a:lstStyle/>
              <a:p>
                <a:pPr marL="0" indent="0">
                  <a:buNone/>
                </a:pPr>
                <a:r>
                  <a:rPr lang="en-US" sz="900" b="1" dirty="0">
                    <a:solidFill>
                      <a:srgbClr val="006D6F"/>
                    </a:solidFill>
                    <a:ea typeface="Courier New" pitchFamily="34" charset="-122"/>
                    <a:cs typeface="Courier New" pitchFamily="34" charset="-120"/>
                  </a:rPr>
                  <a:t>gold/rule</a:t>
                </a:r>
                <a:endParaRPr lang="en-US" sz="900" dirty="0"/>
              </a:p>
            </p:txBody>
          </p:sp>
          <p:sp>
            <p:nvSpPr>
              <p:cNvPr id="23" name="Text 21"/>
              <p:cNvSpPr/>
              <p:nvPr/>
            </p:nvSpPr>
            <p:spPr>
              <a:xfrm>
                <a:off x="2057400" y="3895344"/>
                <a:ext cx="1078992" cy="256032"/>
              </a:xfrm>
              <a:prstGeom prst="rect">
                <a:avLst/>
              </a:prstGeom>
              <a:noFill/>
              <a:ln/>
            </p:spPr>
            <p:txBody>
              <a:bodyPr wrap="square" rtlCol="0" anchor="ctr"/>
              <a:lstStyle/>
              <a:p>
                <a:pPr marL="0" indent="0">
                  <a:buNone/>
                </a:pPr>
                <a:r>
                  <a:rPr lang="en-US" sz="900" dirty="0">
                    <a:solidFill>
                      <a:srgbClr val="4A6272"/>
                    </a:solidFill>
                    <a:ea typeface="Calibri" pitchFamily="34" charset="-122"/>
                    <a:cs typeface="Calibri" pitchFamily="34" charset="-120"/>
                  </a:rPr>
                  <a:t>Band thresholds, query ranges</a:t>
                </a:r>
                <a:endParaRPr lang="en-US" sz="900" dirty="0"/>
              </a:p>
            </p:txBody>
          </p:sp>
          <p:sp>
            <p:nvSpPr>
              <p:cNvPr id="25" name="Text 23"/>
              <p:cNvSpPr/>
              <p:nvPr/>
            </p:nvSpPr>
            <p:spPr>
              <a:xfrm>
                <a:off x="658368" y="4279392"/>
                <a:ext cx="1371600" cy="256032"/>
              </a:xfrm>
              <a:prstGeom prst="rect">
                <a:avLst/>
              </a:prstGeom>
              <a:noFill/>
              <a:ln/>
            </p:spPr>
            <p:txBody>
              <a:bodyPr wrap="square" rtlCol="0" anchor="ctr"/>
              <a:lstStyle/>
              <a:p>
                <a:pPr marL="0" indent="0">
                  <a:buNone/>
                </a:pPr>
                <a:r>
                  <a:rPr lang="en-US" sz="900" b="1" dirty="0">
                    <a:solidFill>
                      <a:srgbClr val="006D6F"/>
                    </a:solidFill>
                    <a:ea typeface="Courier New" pitchFamily="34" charset="-122"/>
                    <a:cs typeface="Courier New" pitchFamily="34" charset="-120"/>
                  </a:rPr>
                  <a:t>gold/account_holder</a:t>
                </a:r>
                <a:endParaRPr lang="en-US" sz="900" dirty="0"/>
              </a:p>
            </p:txBody>
          </p:sp>
          <p:sp>
            <p:nvSpPr>
              <p:cNvPr id="26" name="Text 24"/>
              <p:cNvSpPr/>
              <p:nvPr/>
            </p:nvSpPr>
            <p:spPr>
              <a:xfrm>
                <a:off x="2057400" y="4279392"/>
                <a:ext cx="1078992" cy="256032"/>
              </a:xfrm>
              <a:prstGeom prst="rect">
                <a:avLst/>
              </a:prstGeom>
              <a:noFill/>
              <a:ln/>
            </p:spPr>
            <p:txBody>
              <a:bodyPr wrap="square" rtlCol="0" anchor="ctr"/>
              <a:lstStyle/>
              <a:p>
                <a:pPr marL="0" indent="0">
                  <a:buNone/>
                </a:pPr>
                <a:r>
                  <a:rPr lang="en-US" sz="900" dirty="0">
                    <a:solidFill>
                      <a:srgbClr val="4A6272"/>
                    </a:solidFill>
                    <a:ea typeface="Calibri" pitchFamily="34" charset="-122"/>
                    <a:cs typeface="Calibri" pitchFamily="34" charset="-120"/>
                  </a:rPr>
                  <a:t>Account-identity relationships</a:t>
                </a:r>
                <a:endParaRPr lang="en-US" sz="900" dirty="0"/>
              </a:p>
            </p:txBody>
          </p:sp>
        </p:grpSp>
      </p:grpSp>
      <p:grpSp>
        <p:nvGrpSpPr>
          <p:cNvPr id="66" name="Group 65">
            <a:extLst>
              <a:ext uri="{FF2B5EF4-FFF2-40B4-BE49-F238E27FC236}">
                <a16:creationId xmlns:a16="http://schemas.microsoft.com/office/drawing/2014/main" id="{6A16A43E-134C-4761-2DE8-8311A22B2E90}"/>
              </a:ext>
            </a:extLst>
          </p:cNvPr>
          <p:cNvGrpSpPr/>
          <p:nvPr/>
        </p:nvGrpSpPr>
        <p:grpSpPr>
          <a:xfrm>
            <a:off x="3517392" y="943798"/>
            <a:ext cx="2606040" cy="3614486"/>
            <a:chOff x="3401568" y="1417320"/>
            <a:chExt cx="2606040" cy="3401568"/>
          </a:xfrm>
        </p:grpSpPr>
        <p:sp>
          <p:nvSpPr>
            <p:cNvPr id="27" name="Shape 25"/>
            <p:cNvSpPr/>
            <p:nvPr/>
          </p:nvSpPr>
          <p:spPr>
            <a:xfrm>
              <a:off x="3401568" y="1417320"/>
              <a:ext cx="2606040" cy="3401568"/>
            </a:xfrm>
            <a:prstGeom prst="roundRect">
              <a:avLst>
                <a:gd name="adj" fmla="val 2807"/>
              </a:avLst>
            </a:prstGeom>
            <a:solidFill>
              <a:srgbClr val="FFFFFF"/>
            </a:solidFill>
            <a:ln w="12700">
              <a:solidFill>
                <a:srgbClr val="D8E4E8"/>
              </a:solidFill>
              <a:prstDash val="solid"/>
            </a:ln>
          </p:spPr>
        </p:sp>
        <p:sp>
          <p:nvSpPr>
            <p:cNvPr id="28" name="Text 26"/>
            <p:cNvSpPr/>
            <p:nvPr/>
          </p:nvSpPr>
          <p:spPr>
            <a:xfrm>
              <a:off x="3566160" y="1572768"/>
              <a:ext cx="2286000" cy="201168"/>
            </a:xfrm>
            <a:prstGeom prst="rect">
              <a:avLst/>
            </a:prstGeom>
            <a:noFill/>
            <a:ln/>
          </p:spPr>
          <p:txBody>
            <a:bodyPr wrap="square" rtlCol="0" anchor="ctr"/>
            <a:lstStyle/>
            <a:p>
              <a:pPr marL="0" indent="0">
                <a:buNone/>
              </a:pPr>
              <a:r>
                <a:rPr lang="en-US" sz="1000" b="1" kern="0" spc="200" dirty="0">
                  <a:solidFill>
                    <a:srgbClr val="2D4A6B"/>
                  </a:solidFill>
                  <a:latin typeface="Calibri" pitchFamily="34" charset="0"/>
                  <a:ea typeface="Calibri" pitchFamily="34" charset="-122"/>
                  <a:cs typeface="Calibri" pitchFamily="34" charset="-120"/>
                </a:rPr>
                <a:t>TOOLS &amp; SKILLS</a:t>
              </a:r>
              <a:endParaRPr lang="en-US" sz="1000" dirty="0"/>
            </a:p>
          </p:txBody>
        </p:sp>
        <p:sp>
          <p:nvSpPr>
            <p:cNvPr id="29" name="Shape 27"/>
            <p:cNvSpPr/>
            <p:nvPr/>
          </p:nvSpPr>
          <p:spPr>
            <a:xfrm>
              <a:off x="3566160" y="1792224"/>
              <a:ext cx="2286000" cy="13716"/>
            </a:xfrm>
            <a:prstGeom prst="rect">
              <a:avLst/>
            </a:prstGeom>
            <a:solidFill>
              <a:srgbClr val="D8E4E8"/>
            </a:solidFill>
            <a:ln w="12700">
              <a:solidFill>
                <a:srgbClr val="D8E4E8"/>
              </a:solidFill>
              <a:prstDash val="solid"/>
            </a:ln>
          </p:spPr>
        </p:sp>
        <p:sp>
          <p:nvSpPr>
            <p:cNvPr id="30" name="Text 28"/>
            <p:cNvSpPr/>
            <p:nvPr/>
          </p:nvSpPr>
          <p:spPr>
            <a:xfrm>
              <a:off x="3566160" y="1901952"/>
              <a:ext cx="2286000" cy="201168"/>
            </a:xfrm>
            <a:prstGeom prst="rect">
              <a:avLst/>
            </a:prstGeom>
            <a:noFill/>
            <a:ln/>
          </p:spPr>
          <p:txBody>
            <a:bodyPr wrap="square" rtlCol="0" anchor="ctr"/>
            <a:lstStyle/>
            <a:p>
              <a:pPr marL="0" indent="0">
                <a:buNone/>
              </a:pPr>
              <a:r>
                <a:rPr lang="en-US" sz="900" b="1" kern="0" spc="100" dirty="0">
                  <a:solidFill>
                    <a:srgbClr val="2D4A6B"/>
                  </a:solidFill>
                  <a:latin typeface="Calibri" pitchFamily="34" charset="0"/>
                  <a:ea typeface="Calibri" pitchFamily="34" charset="-122"/>
                  <a:cs typeface="Calibri" pitchFamily="34" charset="-120"/>
                </a:rPr>
                <a:t>DATA &amp; </a:t>
              </a:r>
              <a:r>
                <a:rPr lang="en-US" sz="950" b="1" kern="0" spc="100" dirty="0">
                  <a:solidFill>
                    <a:srgbClr val="2D4A6B"/>
                  </a:solidFill>
                  <a:latin typeface="Calibri" pitchFamily="34" charset="0"/>
                  <a:ea typeface="Calibri" pitchFamily="34" charset="-122"/>
                  <a:cs typeface="Calibri" pitchFamily="34" charset="-120"/>
                </a:rPr>
                <a:t>PROCESSING</a:t>
              </a:r>
              <a:endParaRPr lang="en-US" sz="950" dirty="0"/>
            </a:p>
          </p:txBody>
        </p:sp>
        <p:sp>
          <p:nvSpPr>
            <p:cNvPr id="31" name="Shape 29"/>
            <p:cNvSpPr/>
            <p:nvPr/>
          </p:nvSpPr>
          <p:spPr>
            <a:xfrm>
              <a:off x="3566160" y="2194560"/>
              <a:ext cx="91440" cy="91440"/>
            </a:xfrm>
            <a:prstGeom prst="ellipse">
              <a:avLst/>
            </a:prstGeom>
            <a:solidFill>
              <a:srgbClr val="006D6F"/>
            </a:solidFill>
            <a:ln w="12700">
              <a:solidFill>
                <a:srgbClr val="006D6F"/>
              </a:solidFill>
              <a:prstDash val="solid"/>
            </a:ln>
          </p:spPr>
        </p:sp>
        <p:sp>
          <p:nvSpPr>
            <p:cNvPr id="32" name="Text 30"/>
            <p:cNvSpPr/>
            <p:nvPr/>
          </p:nvSpPr>
          <p:spPr>
            <a:xfrm>
              <a:off x="3730752" y="2139696"/>
              <a:ext cx="2103120" cy="256032"/>
            </a:xfrm>
            <a:prstGeom prst="rect">
              <a:avLst/>
            </a:prstGeom>
            <a:noFill/>
            <a:ln/>
          </p:spPr>
          <p:txBody>
            <a:bodyPr wrap="square" rtlCol="0" anchor="ctr"/>
            <a:lstStyle/>
            <a:p>
              <a:pPr marL="0" indent="0">
                <a:buNone/>
              </a:pPr>
              <a:r>
                <a:rPr lang="en-US" sz="900" dirty="0">
                  <a:solidFill>
                    <a:srgbClr val="4A6272"/>
                  </a:solidFill>
                  <a:latin typeface="Calibri" pitchFamily="34" charset="0"/>
                  <a:ea typeface="Calibri" pitchFamily="34" charset="-122"/>
                  <a:cs typeface="Calibri" pitchFamily="34" charset="-120"/>
                </a:rPr>
                <a:t>PySpark 3.4.2</a:t>
              </a:r>
              <a:endParaRPr lang="en-US" sz="900" dirty="0"/>
            </a:p>
          </p:txBody>
        </p:sp>
        <p:sp>
          <p:nvSpPr>
            <p:cNvPr id="33" name="Shape 31"/>
            <p:cNvSpPr/>
            <p:nvPr/>
          </p:nvSpPr>
          <p:spPr>
            <a:xfrm>
              <a:off x="3566160" y="2441448"/>
              <a:ext cx="91440" cy="91440"/>
            </a:xfrm>
            <a:prstGeom prst="ellipse">
              <a:avLst/>
            </a:prstGeom>
            <a:solidFill>
              <a:srgbClr val="006D6F"/>
            </a:solidFill>
            <a:ln w="12700">
              <a:solidFill>
                <a:srgbClr val="006D6F"/>
              </a:solidFill>
              <a:prstDash val="solid"/>
            </a:ln>
          </p:spPr>
        </p:sp>
        <p:sp>
          <p:nvSpPr>
            <p:cNvPr id="34" name="Text 32"/>
            <p:cNvSpPr/>
            <p:nvPr/>
          </p:nvSpPr>
          <p:spPr>
            <a:xfrm>
              <a:off x="3730752" y="2386584"/>
              <a:ext cx="2103120" cy="256032"/>
            </a:xfrm>
            <a:prstGeom prst="rect">
              <a:avLst/>
            </a:prstGeom>
            <a:noFill/>
            <a:ln/>
          </p:spPr>
          <p:txBody>
            <a:bodyPr wrap="square" rtlCol="0" anchor="ctr"/>
            <a:lstStyle/>
            <a:p>
              <a:pPr marL="0" indent="0">
                <a:buNone/>
              </a:pPr>
              <a:r>
                <a:rPr lang="en-US" sz="900" dirty="0">
                  <a:solidFill>
                    <a:srgbClr val="4A6272"/>
                  </a:solidFill>
                  <a:latin typeface="Calibri" pitchFamily="34" charset="0"/>
                  <a:ea typeface="Calibri" pitchFamily="34" charset="-122"/>
                  <a:cs typeface="Calibri" pitchFamily="34" charset="-120"/>
                </a:rPr>
                <a:t>Apache Hudi Data </a:t>
              </a:r>
              <a:r>
                <a:rPr lang="en-US" sz="900" dirty="0" err="1">
                  <a:solidFill>
                    <a:srgbClr val="4A6272"/>
                  </a:solidFill>
                  <a:latin typeface="Calibri" pitchFamily="34" charset="0"/>
                  <a:ea typeface="Calibri" pitchFamily="34" charset="-122"/>
                  <a:cs typeface="Calibri" pitchFamily="34" charset="-120"/>
                </a:rPr>
                <a:t>LakeHouse</a:t>
              </a:r>
              <a:endParaRPr lang="en-US" sz="900" dirty="0"/>
            </a:p>
          </p:txBody>
        </p:sp>
        <p:sp>
          <p:nvSpPr>
            <p:cNvPr id="35" name="Shape 33"/>
            <p:cNvSpPr/>
            <p:nvPr/>
          </p:nvSpPr>
          <p:spPr>
            <a:xfrm>
              <a:off x="3566160" y="2688336"/>
              <a:ext cx="91440" cy="91440"/>
            </a:xfrm>
            <a:prstGeom prst="ellipse">
              <a:avLst/>
            </a:prstGeom>
            <a:solidFill>
              <a:srgbClr val="006D6F"/>
            </a:solidFill>
            <a:ln w="12700">
              <a:solidFill>
                <a:srgbClr val="006D6F"/>
              </a:solidFill>
              <a:prstDash val="solid"/>
            </a:ln>
          </p:spPr>
        </p:sp>
        <p:sp>
          <p:nvSpPr>
            <p:cNvPr id="36" name="Text 34"/>
            <p:cNvSpPr/>
            <p:nvPr/>
          </p:nvSpPr>
          <p:spPr>
            <a:xfrm>
              <a:off x="3730752" y="2633472"/>
              <a:ext cx="2103120" cy="256032"/>
            </a:xfrm>
            <a:prstGeom prst="rect">
              <a:avLst/>
            </a:prstGeom>
            <a:noFill/>
            <a:ln/>
          </p:spPr>
          <p:txBody>
            <a:bodyPr wrap="square" rtlCol="0" anchor="ctr"/>
            <a:lstStyle/>
            <a:p>
              <a:pPr marL="0" indent="0">
                <a:buNone/>
              </a:pPr>
              <a:r>
                <a:rPr lang="en-US" sz="900" dirty="0">
                  <a:solidFill>
                    <a:srgbClr val="4A6272"/>
                  </a:solidFill>
                  <a:latin typeface="Calibri" pitchFamily="34" charset="0"/>
                  <a:ea typeface="Calibri" pitchFamily="34" charset="-122"/>
                  <a:cs typeface="Calibri" pitchFamily="34" charset="-120"/>
                </a:rPr>
                <a:t>PySpark SQL</a:t>
              </a:r>
              <a:endParaRPr lang="en-US" sz="900" dirty="0"/>
            </a:p>
          </p:txBody>
        </p:sp>
        <p:sp>
          <p:nvSpPr>
            <p:cNvPr id="37" name="Shape 35"/>
            <p:cNvSpPr/>
            <p:nvPr/>
          </p:nvSpPr>
          <p:spPr>
            <a:xfrm>
              <a:off x="3566160" y="2935224"/>
              <a:ext cx="91440" cy="91440"/>
            </a:xfrm>
            <a:prstGeom prst="ellipse">
              <a:avLst/>
            </a:prstGeom>
            <a:solidFill>
              <a:srgbClr val="006D6F"/>
            </a:solidFill>
            <a:ln w="12700">
              <a:solidFill>
                <a:srgbClr val="006D6F"/>
              </a:solidFill>
              <a:prstDash val="solid"/>
            </a:ln>
          </p:spPr>
        </p:sp>
        <p:sp>
          <p:nvSpPr>
            <p:cNvPr id="38" name="Text 36"/>
            <p:cNvSpPr/>
            <p:nvPr/>
          </p:nvSpPr>
          <p:spPr>
            <a:xfrm>
              <a:off x="3730752" y="2880360"/>
              <a:ext cx="2103120" cy="256032"/>
            </a:xfrm>
            <a:prstGeom prst="rect">
              <a:avLst/>
            </a:prstGeom>
            <a:noFill/>
            <a:ln/>
          </p:spPr>
          <p:txBody>
            <a:bodyPr wrap="square" rtlCol="0" anchor="ctr"/>
            <a:lstStyle/>
            <a:p>
              <a:pPr marL="0" indent="0">
                <a:buNone/>
              </a:pPr>
              <a:r>
                <a:rPr lang="en-US" sz="900" dirty="0">
                  <a:solidFill>
                    <a:srgbClr val="4A6272"/>
                  </a:solidFill>
                  <a:latin typeface="Calibri" pitchFamily="34" charset="0"/>
                  <a:ea typeface="Calibri" pitchFamily="34" charset="-122"/>
                  <a:cs typeface="Calibri" pitchFamily="34" charset="-120"/>
                </a:rPr>
                <a:t>JSON parsing</a:t>
              </a:r>
              <a:endParaRPr lang="en-US" sz="900" dirty="0"/>
            </a:p>
          </p:txBody>
        </p:sp>
        <p:sp>
          <p:nvSpPr>
            <p:cNvPr id="39" name="Text 37"/>
            <p:cNvSpPr/>
            <p:nvPr/>
          </p:nvSpPr>
          <p:spPr>
            <a:xfrm>
              <a:off x="3566160" y="3182112"/>
              <a:ext cx="2286000" cy="201168"/>
            </a:xfrm>
            <a:prstGeom prst="rect">
              <a:avLst/>
            </a:prstGeom>
            <a:noFill/>
            <a:ln/>
          </p:spPr>
          <p:txBody>
            <a:bodyPr wrap="square" rtlCol="0" anchor="ctr"/>
            <a:lstStyle/>
            <a:p>
              <a:pPr marL="0" indent="0">
                <a:buNone/>
              </a:pPr>
              <a:r>
                <a:rPr lang="en-US" sz="950" b="1" kern="0" spc="100" dirty="0">
                  <a:solidFill>
                    <a:srgbClr val="2D4A6B"/>
                  </a:solidFill>
                  <a:latin typeface="Calibri" pitchFamily="34" charset="0"/>
                  <a:ea typeface="Calibri" pitchFamily="34" charset="-122"/>
                  <a:cs typeface="Calibri" pitchFamily="34" charset="-120"/>
                </a:rPr>
                <a:t>VISUALIZATION</a:t>
              </a:r>
              <a:endParaRPr lang="en-US" sz="950" dirty="0"/>
            </a:p>
          </p:txBody>
        </p:sp>
        <p:sp>
          <p:nvSpPr>
            <p:cNvPr id="40" name="Shape 38"/>
            <p:cNvSpPr/>
            <p:nvPr/>
          </p:nvSpPr>
          <p:spPr>
            <a:xfrm>
              <a:off x="3566160" y="3474720"/>
              <a:ext cx="91440" cy="91440"/>
            </a:xfrm>
            <a:prstGeom prst="ellipse">
              <a:avLst/>
            </a:prstGeom>
            <a:solidFill>
              <a:srgbClr val="006D6F"/>
            </a:solidFill>
            <a:ln w="12700">
              <a:solidFill>
                <a:srgbClr val="006D6F"/>
              </a:solidFill>
              <a:prstDash val="solid"/>
            </a:ln>
          </p:spPr>
        </p:sp>
        <p:sp>
          <p:nvSpPr>
            <p:cNvPr id="41" name="Text 39"/>
            <p:cNvSpPr/>
            <p:nvPr/>
          </p:nvSpPr>
          <p:spPr>
            <a:xfrm>
              <a:off x="3730752" y="3419856"/>
              <a:ext cx="2103120" cy="256032"/>
            </a:xfrm>
            <a:prstGeom prst="rect">
              <a:avLst/>
            </a:prstGeom>
            <a:noFill/>
            <a:ln/>
          </p:spPr>
          <p:txBody>
            <a:bodyPr wrap="square" rtlCol="0" anchor="ctr"/>
            <a:lstStyle/>
            <a:p>
              <a:pPr marL="0" indent="0">
                <a:buNone/>
              </a:pPr>
              <a:r>
                <a:rPr lang="en-US" sz="900" dirty="0">
                  <a:solidFill>
                    <a:srgbClr val="4A6272"/>
                  </a:solidFill>
                  <a:latin typeface="Calibri" pitchFamily="34" charset="0"/>
                  <a:ea typeface="Calibri" pitchFamily="34" charset="-122"/>
                  <a:cs typeface="Calibri" pitchFamily="34" charset="-120"/>
                </a:rPr>
                <a:t>Plotly</a:t>
              </a:r>
              <a:endParaRPr lang="en-US" sz="900" dirty="0"/>
            </a:p>
          </p:txBody>
        </p:sp>
        <p:sp>
          <p:nvSpPr>
            <p:cNvPr id="42" name="Shape 40"/>
            <p:cNvSpPr/>
            <p:nvPr/>
          </p:nvSpPr>
          <p:spPr>
            <a:xfrm>
              <a:off x="3566160" y="3721608"/>
              <a:ext cx="91440" cy="91440"/>
            </a:xfrm>
            <a:prstGeom prst="ellipse">
              <a:avLst/>
            </a:prstGeom>
            <a:solidFill>
              <a:srgbClr val="006D6F"/>
            </a:solidFill>
            <a:ln w="12700">
              <a:solidFill>
                <a:srgbClr val="006D6F"/>
              </a:solidFill>
              <a:prstDash val="solid"/>
            </a:ln>
          </p:spPr>
        </p:sp>
        <p:sp>
          <p:nvSpPr>
            <p:cNvPr id="43" name="Text 41"/>
            <p:cNvSpPr/>
            <p:nvPr/>
          </p:nvSpPr>
          <p:spPr>
            <a:xfrm>
              <a:off x="3730752" y="3666744"/>
              <a:ext cx="2103120" cy="256032"/>
            </a:xfrm>
            <a:prstGeom prst="rect">
              <a:avLst/>
            </a:prstGeom>
            <a:noFill/>
            <a:ln/>
          </p:spPr>
          <p:txBody>
            <a:bodyPr wrap="square" rtlCol="0" anchor="ctr"/>
            <a:lstStyle/>
            <a:p>
              <a:pPr marL="0" indent="0">
                <a:buNone/>
              </a:pPr>
              <a:r>
                <a:rPr lang="en-US" sz="900" dirty="0">
                  <a:solidFill>
                    <a:srgbClr val="4A6272"/>
                  </a:solidFill>
                  <a:latin typeface="Calibri" pitchFamily="34" charset="0"/>
                  <a:ea typeface="Calibri" pitchFamily="34" charset="-122"/>
                  <a:cs typeface="Calibri" pitchFamily="34" charset="-120"/>
                </a:rPr>
                <a:t>ipywidgets</a:t>
              </a:r>
              <a:endParaRPr lang="en-US" sz="900" dirty="0"/>
            </a:p>
          </p:txBody>
        </p:sp>
        <p:sp>
          <p:nvSpPr>
            <p:cNvPr id="44" name="Shape 42"/>
            <p:cNvSpPr/>
            <p:nvPr/>
          </p:nvSpPr>
          <p:spPr>
            <a:xfrm>
              <a:off x="3566160" y="3968496"/>
              <a:ext cx="91440" cy="91440"/>
            </a:xfrm>
            <a:prstGeom prst="ellipse">
              <a:avLst/>
            </a:prstGeom>
            <a:solidFill>
              <a:srgbClr val="006D6F"/>
            </a:solidFill>
            <a:ln w="12700">
              <a:solidFill>
                <a:srgbClr val="006D6F"/>
              </a:solidFill>
              <a:prstDash val="solid"/>
            </a:ln>
          </p:spPr>
        </p:sp>
        <p:sp>
          <p:nvSpPr>
            <p:cNvPr id="45" name="Text 43"/>
            <p:cNvSpPr/>
            <p:nvPr/>
          </p:nvSpPr>
          <p:spPr>
            <a:xfrm>
              <a:off x="3730752" y="3913632"/>
              <a:ext cx="2103120" cy="256032"/>
            </a:xfrm>
            <a:prstGeom prst="rect">
              <a:avLst/>
            </a:prstGeom>
            <a:noFill/>
            <a:ln/>
          </p:spPr>
          <p:txBody>
            <a:bodyPr wrap="square" rtlCol="0" anchor="ctr"/>
            <a:lstStyle/>
            <a:p>
              <a:pPr marL="0" indent="0">
                <a:buNone/>
              </a:pPr>
              <a:r>
                <a:rPr lang="en-US" sz="900" dirty="0">
                  <a:solidFill>
                    <a:srgbClr val="4A6272"/>
                  </a:solidFill>
                  <a:latin typeface="Calibri" pitchFamily="34" charset="0"/>
                  <a:ea typeface="Calibri" pitchFamily="34" charset="-122"/>
                  <a:cs typeface="Calibri" pitchFamily="34" charset="-120"/>
                </a:rPr>
                <a:t>Python- Pandas</a:t>
              </a:r>
              <a:endParaRPr lang="en-US" sz="900" dirty="0"/>
            </a:p>
          </p:txBody>
        </p:sp>
        <p:sp>
          <p:nvSpPr>
            <p:cNvPr id="46" name="Shape 44"/>
            <p:cNvSpPr/>
            <p:nvPr/>
          </p:nvSpPr>
          <p:spPr>
            <a:xfrm>
              <a:off x="3566160" y="4215384"/>
              <a:ext cx="91440" cy="91440"/>
            </a:xfrm>
            <a:prstGeom prst="ellipse">
              <a:avLst/>
            </a:prstGeom>
            <a:solidFill>
              <a:srgbClr val="006D6F"/>
            </a:solidFill>
            <a:ln w="12700">
              <a:solidFill>
                <a:srgbClr val="006D6F"/>
              </a:solidFill>
              <a:prstDash val="solid"/>
            </a:ln>
          </p:spPr>
        </p:sp>
        <p:sp>
          <p:nvSpPr>
            <p:cNvPr id="47" name="Text 45"/>
            <p:cNvSpPr/>
            <p:nvPr/>
          </p:nvSpPr>
          <p:spPr>
            <a:xfrm>
              <a:off x="3730752" y="4160520"/>
              <a:ext cx="2103120" cy="256032"/>
            </a:xfrm>
            <a:prstGeom prst="rect">
              <a:avLst/>
            </a:prstGeom>
            <a:noFill/>
            <a:ln/>
          </p:spPr>
          <p:txBody>
            <a:bodyPr wrap="square" rtlCol="0" anchor="ctr"/>
            <a:lstStyle/>
            <a:p>
              <a:pPr marL="0" indent="0">
                <a:buNone/>
              </a:pPr>
              <a:r>
                <a:rPr lang="en-US" sz="900" dirty="0">
                  <a:solidFill>
                    <a:srgbClr val="4A6272"/>
                  </a:solidFill>
                  <a:latin typeface="Calibri" pitchFamily="34" charset="0"/>
                  <a:ea typeface="Calibri" pitchFamily="34" charset="-122"/>
                  <a:cs typeface="Calibri" pitchFamily="34" charset="-120"/>
                </a:rPr>
                <a:t>JupyterLab</a:t>
              </a:r>
              <a:endParaRPr lang="en-US" sz="900" dirty="0"/>
            </a:p>
          </p:txBody>
        </p:sp>
      </p:grpSp>
      <p:grpSp>
        <p:nvGrpSpPr>
          <p:cNvPr id="68" name="Group 67">
            <a:extLst>
              <a:ext uri="{FF2B5EF4-FFF2-40B4-BE49-F238E27FC236}">
                <a16:creationId xmlns:a16="http://schemas.microsoft.com/office/drawing/2014/main" id="{380E0FA1-6C40-B319-20D4-8ED62B07EC6D}"/>
              </a:ext>
            </a:extLst>
          </p:cNvPr>
          <p:cNvGrpSpPr/>
          <p:nvPr/>
        </p:nvGrpSpPr>
        <p:grpSpPr>
          <a:xfrm>
            <a:off x="6409944" y="943798"/>
            <a:ext cx="2542032" cy="3614486"/>
            <a:chOff x="6144768" y="1300414"/>
            <a:chExt cx="2542032" cy="3539810"/>
          </a:xfrm>
        </p:grpSpPr>
        <p:sp>
          <p:nvSpPr>
            <p:cNvPr id="48" name="Shape 46"/>
            <p:cNvSpPr/>
            <p:nvPr/>
          </p:nvSpPr>
          <p:spPr>
            <a:xfrm>
              <a:off x="6144768" y="1300414"/>
              <a:ext cx="2542032" cy="3520440"/>
            </a:xfrm>
            <a:prstGeom prst="roundRect">
              <a:avLst>
                <a:gd name="adj" fmla="val 2878"/>
              </a:avLst>
            </a:prstGeom>
            <a:solidFill>
              <a:srgbClr val="FFFFFF"/>
            </a:solidFill>
            <a:ln w="12700">
              <a:solidFill>
                <a:srgbClr val="D8E4E8"/>
              </a:solidFill>
              <a:prstDash val="solid"/>
            </a:ln>
          </p:spPr>
        </p:sp>
        <p:grpSp>
          <p:nvGrpSpPr>
            <p:cNvPr id="67" name="Group 66">
              <a:extLst>
                <a:ext uri="{FF2B5EF4-FFF2-40B4-BE49-F238E27FC236}">
                  <a16:creationId xmlns:a16="http://schemas.microsoft.com/office/drawing/2014/main" id="{28386C60-C1BB-DF54-4995-5419EA6B7484}"/>
                </a:ext>
              </a:extLst>
            </p:cNvPr>
            <p:cNvGrpSpPr/>
            <p:nvPr/>
          </p:nvGrpSpPr>
          <p:grpSpPr>
            <a:xfrm>
              <a:off x="6309360" y="1490499"/>
              <a:ext cx="2258568" cy="3349725"/>
              <a:chOff x="6309360" y="1490499"/>
              <a:chExt cx="2258568" cy="3349725"/>
            </a:xfrm>
          </p:grpSpPr>
          <p:sp>
            <p:nvSpPr>
              <p:cNvPr id="49" name="Text 47"/>
              <p:cNvSpPr/>
              <p:nvPr/>
            </p:nvSpPr>
            <p:spPr>
              <a:xfrm>
                <a:off x="6309360" y="1490499"/>
                <a:ext cx="2212848" cy="201168"/>
              </a:xfrm>
              <a:prstGeom prst="rect">
                <a:avLst/>
              </a:prstGeom>
              <a:noFill/>
              <a:ln/>
            </p:spPr>
            <p:txBody>
              <a:bodyPr wrap="square" rtlCol="0" anchor="ctr"/>
              <a:lstStyle/>
              <a:p>
                <a:pPr marL="0" indent="0">
                  <a:buNone/>
                </a:pPr>
                <a:r>
                  <a:rPr lang="en-US" sz="1000" b="1" kern="0" spc="200" dirty="0">
                    <a:solidFill>
                      <a:srgbClr val="C0392B"/>
                    </a:solidFill>
                    <a:latin typeface="Calibri" pitchFamily="34" charset="0"/>
                    <a:ea typeface="Calibri" pitchFamily="34" charset="-122"/>
                    <a:cs typeface="Calibri" pitchFamily="34" charset="-120"/>
                  </a:rPr>
                  <a:t>CHALLENGES OVERCOME</a:t>
                </a:r>
                <a:endParaRPr lang="en-US" sz="1000" dirty="0"/>
              </a:p>
            </p:txBody>
          </p:sp>
          <p:sp>
            <p:nvSpPr>
              <p:cNvPr id="50" name="Shape 48"/>
              <p:cNvSpPr/>
              <p:nvPr/>
            </p:nvSpPr>
            <p:spPr>
              <a:xfrm>
                <a:off x="6355080" y="1697970"/>
                <a:ext cx="2212848" cy="13716"/>
              </a:xfrm>
              <a:prstGeom prst="rect">
                <a:avLst/>
              </a:prstGeom>
              <a:solidFill>
                <a:srgbClr val="D8E4E8"/>
              </a:solidFill>
              <a:ln w="12700">
                <a:solidFill>
                  <a:srgbClr val="D8E4E8"/>
                </a:solidFill>
                <a:prstDash val="solid"/>
              </a:ln>
            </p:spPr>
          </p:sp>
          <p:sp>
            <p:nvSpPr>
              <p:cNvPr id="51" name="Shape 49"/>
              <p:cNvSpPr/>
              <p:nvPr/>
            </p:nvSpPr>
            <p:spPr>
              <a:xfrm>
                <a:off x="6309360" y="1901952"/>
                <a:ext cx="36576" cy="566928"/>
              </a:xfrm>
              <a:prstGeom prst="rect">
                <a:avLst/>
              </a:prstGeom>
              <a:solidFill>
                <a:srgbClr val="C0392B"/>
              </a:solidFill>
              <a:ln w="12700">
                <a:solidFill>
                  <a:srgbClr val="C0392B"/>
                </a:solidFill>
                <a:prstDash val="solid"/>
              </a:ln>
            </p:spPr>
          </p:sp>
          <p:sp>
            <p:nvSpPr>
              <p:cNvPr id="52" name="Text 50"/>
              <p:cNvSpPr/>
              <p:nvPr/>
            </p:nvSpPr>
            <p:spPr>
              <a:xfrm>
                <a:off x="6400800" y="1863090"/>
                <a:ext cx="2121408" cy="219456"/>
              </a:xfrm>
              <a:prstGeom prst="rect">
                <a:avLst/>
              </a:prstGeom>
              <a:noFill/>
              <a:ln/>
            </p:spPr>
            <p:txBody>
              <a:bodyPr wrap="square" rtlCol="0" anchor="ctr"/>
              <a:lstStyle/>
              <a:p>
                <a:pPr marL="0" indent="0">
                  <a:buNone/>
                </a:pPr>
                <a:r>
                  <a:rPr lang="en-US" sz="950" b="1" dirty="0">
                    <a:solidFill>
                      <a:srgbClr val="1C2B3A"/>
                    </a:solidFill>
                    <a:latin typeface="Calibri" pitchFamily="34" charset="0"/>
                    <a:ea typeface="Calibri" pitchFamily="34" charset="-122"/>
                    <a:cs typeface="Calibri" pitchFamily="34" charset="-120"/>
                  </a:rPr>
                  <a:t>Uncertain Project Scope</a:t>
                </a:r>
                <a:endParaRPr lang="en-US" sz="950" dirty="0"/>
              </a:p>
            </p:txBody>
          </p:sp>
          <p:sp>
            <p:nvSpPr>
              <p:cNvPr id="53" name="Text 51"/>
              <p:cNvSpPr/>
              <p:nvPr/>
            </p:nvSpPr>
            <p:spPr>
              <a:xfrm>
                <a:off x="6400800" y="2054303"/>
                <a:ext cx="2121408" cy="466344"/>
              </a:xfrm>
              <a:prstGeom prst="rect">
                <a:avLst/>
              </a:prstGeom>
              <a:noFill/>
              <a:ln/>
            </p:spPr>
            <p:txBody>
              <a:bodyPr wrap="square" rtlCol="0" anchor="ctr"/>
              <a:lstStyle/>
              <a:p>
                <a:pPr marL="0" indent="0">
                  <a:lnSpc>
                    <a:spcPct val="125000"/>
                  </a:lnSpc>
                  <a:buNone/>
                </a:pPr>
                <a:r>
                  <a:rPr lang="en-US" sz="900" dirty="0">
                    <a:solidFill>
                      <a:srgbClr val="4A6272"/>
                    </a:solidFill>
                    <a:latin typeface="Calibri" pitchFamily="34" charset="0"/>
                    <a:ea typeface="Calibri" pitchFamily="34" charset="-122"/>
                    <a:cs typeface="Calibri" pitchFamily="34" charset="-120"/>
                  </a:rPr>
                  <a:t>→  Aligned with </a:t>
                </a:r>
                <a:r>
                  <a:rPr lang="en-US" sz="900" dirty="0" err="1">
                    <a:solidFill>
                      <a:srgbClr val="4A6272"/>
                    </a:solidFill>
                    <a:latin typeface="Calibri" pitchFamily="34" charset="0"/>
                    <a:ea typeface="Calibri" pitchFamily="34" charset="-122"/>
                    <a:cs typeface="Calibri" pitchFamily="34" charset="-120"/>
                  </a:rPr>
                  <a:t>Tazama</a:t>
                </a:r>
                <a:r>
                  <a:rPr lang="en-US" sz="900" dirty="0">
                    <a:solidFill>
                      <a:srgbClr val="4A6272"/>
                    </a:solidFill>
                    <a:latin typeface="Calibri" pitchFamily="34" charset="0"/>
                    <a:ea typeface="Calibri" pitchFamily="34" charset="-122"/>
                    <a:cs typeface="Calibri" pitchFamily="34" charset="-120"/>
                  </a:rPr>
                  <a:t> and Delta Analytics leadership -  defined 15-rule implementation in phase-1 as deliverable </a:t>
                </a:r>
                <a:endParaRPr lang="en-US" sz="900" dirty="0"/>
              </a:p>
            </p:txBody>
          </p:sp>
          <p:sp>
            <p:nvSpPr>
              <p:cNvPr id="54" name="Shape 52"/>
              <p:cNvSpPr/>
              <p:nvPr/>
            </p:nvSpPr>
            <p:spPr>
              <a:xfrm>
                <a:off x="6309360" y="2697480"/>
                <a:ext cx="36576" cy="566928"/>
              </a:xfrm>
              <a:prstGeom prst="rect">
                <a:avLst/>
              </a:prstGeom>
              <a:solidFill>
                <a:srgbClr val="C0392B"/>
              </a:solidFill>
              <a:ln w="12700">
                <a:solidFill>
                  <a:srgbClr val="C0392B"/>
                </a:solidFill>
                <a:prstDash val="solid"/>
              </a:ln>
            </p:spPr>
          </p:sp>
          <p:sp>
            <p:nvSpPr>
              <p:cNvPr id="55" name="Text 53"/>
              <p:cNvSpPr/>
              <p:nvPr/>
            </p:nvSpPr>
            <p:spPr>
              <a:xfrm>
                <a:off x="6400800" y="2625114"/>
                <a:ext cx="2121408" cy="219456"/>
              </a:xfrm>
              <a:prstGeom prst="rect">
                <a:avLst/>
              </a:prstGeom>
              <a:noFill/>
              <a:ln/>
            </p:spPr>
            <p:txBody>
              <a:bodyPr wrap="square" rtlCol="0" anchor="ctr"/>
              <a:lstStyle/>
              <a:p>
                <a:pPr marL="0" indent="0">
                  <a:buNone/>
                </a:pPr>
                <a:r>
                  <a:rPr lang="en-US" sz="950" b="1" dirty="0">
                    <a:solidFill>
                      <a:srgbClr val="1C2B3A"/>
                    </a:solidFill>
                    <a:latin typeface="Calibri" pitchFamily="34" charset="0"/>
                    <a:ea typeface="Calibri" pitchFamily="34" charset="-122"/>
                    <a:cs typeface="Calibri" pitchFamily="34" charset="-120"/>
                  </a:rPr>
                  <a:t>Sandbox &amp; data access</a:t>
                </a:r>
                <a:endParaRPr lang="en-US" sz="950" dirty="0"/>
              </a:p>
            </p:txBody>
          </p:sp>
          <p:sp>
            <p:nvSpPr>
              <p:cNvPr id="56" name="Text 54"/>
              <p:cNvSpPr/>
              <p:nvPr/>
            </p:nvSpPr>
            <p:spPr>
              <a:xfrm>
                <a:off x="6400800" y="2909093"/>
                <a:ext cx="2121408" cy="467082"/>
              </a:xfrm>
              <a:prstGeom prst="rect">
                <a:avLst/>
              </a:prstGeom>
              <a:noFill/>
              <a:ln/>
            </p:spPr>
            <p:txBody>
              <a:bodyPr wrap="square" rtlCol="0" anchor="ctr"/>
              <a:lstStyle/>
              <a:p>
                <a:pPr marL="0" indent="0">
                  <a:lnSpc>
                    <a:spcPct val="125000"/>
                  </a:lnSpc>
                  <a:buNone/>
                </a:pPr>
                <a:r>
                  <a:rPr lang="en-US" sz="900" dirty="0">
                    <a:solidFill>
                      <a:srgbClr val="4A6272"/>
                    </a:solidFill>
                    <a:latin typeface="Calibri" pitchFamily="34" charset="0"/>
                    <a:ea typeface="Calibri" pitchFamily="34" charset="-122"/>
                    <a:cs typeface="Calibri" pitchFamily="34" charset="-120"/>
                  </a:rPr>
                  <a:t>→  Delayed Access – re-defined the project scope and timelines, worked with incomplete synthetic data, and bronze/alerts</a:t>
                </a:r>
                <a:endParaRPr lang="en-US" sz="900" dirty="0"/>
              </a:p>
            </p:txBody>
          </p:sp>
          <p:sp>
            <p:nvSpPr>
              <p:cNvPr id="57" name="Shape 55"/>
              <p:cNvSpPr/>
              <p:nvPr/>
            </p:nvSpPr>
            <p:spPr>
              <a:xfrm>
                <a:off x="6309360" y="3625498"/>
                <a:ext cx="36576" cy="566928"/>
              </a:xfrm>
              <a:prstGeom prst="rect">
                <a:avLst/>
              </a:prstGeom>
              <a:solidFill>
                <a:srgbClr val="B7860B"/>
              </a:solidFill>
              <a:ln w="12700">
                <a:solidFill>
                  <a:srgbClr val="B7860B"/>
                </a:solidFill>
                <a:prstDash val="solid"/>
              </a:ln>
            </p:spPr>
          </p:sp>
          <p:sp>
            <p:nvSpPr>
              <p:cNvPr id="58" name="Text 56"/>
              <p:cNvSpPr/>
              <p:nvPr/>
            </p:nvSpPr>
            <p:spPr>
              <a:xfrm>
                <a:off x="6400800" y="3563063"/>
                <a:ext cx="2121408" cy="219456"/>
              </a:xfrm>
              <a:prstGeom prst="rect">
                <a:avLst/>
              </a:prstGeom>
              <a:noFill/>
              <a:ln/>
            </p:spPr>
            <p:txBody>
              <a:bodyPr wrap="square" rtlCol="0" anchor="ctr"/>
              <a:lstStyle/>
              <a:p>
                <a:pPr marL="0" indent="0">
                  <a:buNone/>
                </a:pPr>
                <a:r>
                  <a:rPr lang="en-US" sz="950" b="1" dirty="0">
                    <a:solidFill>
                      <a:srgbClr val="1C2B3A"/>
                    </a:solidFill>
                    <a:latin typeface="Calibri" pitchFamily="34" charset="0"/>
                    <a:ea typeface="Calibri" pitchFamily="34" charset="-122"/>
                    <a:cs typeface="Calibri" pitchFamily="34" charset="-120"/>
                  </a:rPr>
                  <a:t>2 DLH migrations mid-project</a:t>
                </a:r>
                <a:endParaRPr lang="en-US" sz="950" dirty="0"/>
              </a:p>
            </p:txBody>
          </p:sp>
          <p:sp>
            <p:nvSpPr>
              <p:cNvPr id="59" name="Text 57"/>
              <p:cNvSpPr/>
              <p:nvPr/>
            </p:nvSpPr>
            <p:spPr>
              <a:xfrm>
                <a:off x="6400800" y="3761329"/>
                <a:ext cx="2121408" cy="347472"/>
              </a:xfrm>
              <a:prstGeom prst="rect">
                <a:avLst/>
              </a:prstGeom>
              <a:noFill/>
              <a:ln/>
            </p:spPr>
            <p:txBody>
              <a:bodyPr wrap="square" rtlCol="0" anchor="ctr"/>
              <a:lstStyle/>
              <a:p>
                <a:pPr marL="0" indent="0">
                  <a:lnSpc>
                    <a:spcPct val="125000"/>
                  </a:lnSpc>
                  <a:buNone/>
                </a:pPr>
                <a:r>
                  <a:rPr lang="en-US" sz="880" dirty="0">
                    <a:solidFill>
                      <a:srgbClr val="4A6272"/>
                    </a:solidFill>
                    <a:latin typeface="Calibri" pitchFamily="34" charset="0"/>
                    <a:ea typeface="Calibri" pitchFamily="34" charset="-122"/>
                    <a:cs typeface="Calibri" pitchFamily="34" charset="-120"/>
                  </a:rPr>
                  <a:t>→  Adapted architecture in real time — integrated new evaluation table</a:t>
                </a:r>
                <a:endParaRPr lang="en-US" sz="880" dirty="0"/>
              </a:p>
            </p:txBody>
          </p:sp>
          <p:sp>
            <p:nvSpPr>
              <p:cNvPr id="60" name="Shape 58"/>
              <p:cNvSpPr/>
              <p:nvPr/>
            </p:nvSpPr>
            <p:spPr>
              <a:xfrm>
                <a:off x="6309360" y="4273296"/>
                <a:ext cx="36576" cy="566928"/>
              </a:xfrm>
              <a:prstGeom prst="rect">
                <a:avLst/>
              </a:prstGeom>
              <a:solidFill>
                <a:srgbClr val="B7860B"/>
              </a:solidFill>
              <a:ln w="12700">
                <a:solidFill>
                  <a:srgbClr val="B7860B"/>
                </a:solidFill>
                <a:prstDash val="solid"/>
              </a:ln>
            </p:spPr>
          </p:sp>
          <p:sp>
            <p:nvSpPr>
              <p:cNvPr id="61" name="Text 59"/>
              <p:cNvSpPr/>
              <p:nvPr/>
            </p:nvSpPr>
            <p:spPr>
              <a:xfrm>
                <a:off x="6400800" y="4229395"/>
                <a:ext cx="2121408" cy="219456"/>
              </a:xfrm>
              <a:prstGeom prst="rect">
                <a:avLst/>
              </a:prstGeom>
              <a:noFill/>
              <a:ln/>
            </p:spPr>
            <p:txBody>
              <a:bodyPr wrap="square" rtlCol="0" anchor="ctr"/>
              <a:lstStyle/>
              <a:p>
                <a:pPr marL="0" indent="0">
                  <a:buNone/>
                </a:pPr>
                <a:r>
                  <a:rPr lang="en-US" sz="950" b="1" dirty="0">
                    <a:solidFill>
                      <a:srgbClr val="1C2B3A"/>
                    </a:solidFill>
                    <a:latin typeface="Calibri" pitchFamily="34" charset="0"/>
                    <a:ea typeface="Calibri" pitchFamily="34" charset="-122"/>
                    <a:cs typeface="Calibri" pitchFamily="34" charset="-120"/>
                  </a:rPr>
                  <a:t>No ALRT test data</a:t>
                </a:r>
                <a:endParaRPr lang="en-US" sz="950" dirty="0"/>
              </a:p>
            </p:txBody>
          </p:sp>
          <p:sp>
            <p:nvSpPr>
              <p:cNvPr id="62" name="Text 60"/>
              <p:cNvSpPr/>
              <p:nvPr/>
            </p:nvSpPr>
            <p:spPr>
              <a:xfrm>
                <a:off x="6400800" y="4447571"/>
                <a:ext cx="2121408" cy="347472"/>
              </a:xfrm>
              <a:prstGeom prst="rect">
                <a:avLst/>
              </a:prstGeom>
              <a:noFill/>
              <a:ln/>
            </p:spPr>
            <p:txBody>
              <a:bodyPr wrap="square" rtlCol="0" anchor="ctr"/>
              <a:lstStyle/>
              <a:p>
                <a:pPr marL="0" indent="0">
                  <a:lnSpc>
                    <a:spcPct val="125000"/>
                  </a:lnSpc>
                  <a:buNone/>
                </a:pPr>
                <a:r>
                  <a:rPr lang="en-US" sz="880" dirty="0">
                    <a:solidFill>
                      <a:srgbClr val="4A6272"/>
                    </a:solidFill>
                    <a:latin typeface="Calibri" pitchFamily="34" charset="0"/>
                    <a:ea typeface="Calibri" pitchFamily="34" charset="-122"/>
                    <a:cs typeface="Calibri" pitchFamily="34" charset="-120"/>
                  </a:rPr>
                  <a:t>→  Validated </a:t>
                </a:r>
                <a:r>
                  <a:rPr lang="en-US" sz="900" dirty="0">
                    <a:solidFill>
                      <a:srgbClr val="4A6272"/>
                    </a:solidFill>
                    <a:latin typeface="Calibri" pitchFamily="34" charset="0"/>
                    <a:ea typeface="Calibri" pitchFamily="34" charset="-122"/>
                    <a:cs typeface="Calibri" pitchFamily="34" charset="-120"/>
                  </a:rPr>
                  <a:t>on</a:t>
                </a:r>
                <a:r>
                  <a:rPr lang="en-US" sz="880" dirty="0">
                    <a:solidFill>
                      <a:srgbClr val="4A6272"/>
                    </a:solidFill>
                    <a:latin typeface="Calibri" pitchFamily="34" charset="0"/>
                    <a:ea typeface="Calibri" pitchFamily="34" charset="-122"/>
                    <a:cs typeface="Calibri" pitchFamily="34" charset="-120"/>
                  </a:rPr>
                  <a:t> NALT + PAYSYSLABS ALRT data while awaiting TAZAMA ALRT</a:t>
                </a:r>
                <a:endParaRPr lang="en-US" sz="880" dirty="0"/>
              </a:p>
            </p:txBody>
          </p:sp>
        </p:grpSp>
      </p:grpSp>
      <p:sp>
        <p:nvSpPr>
          <p:cNvPr id="63" name="Text 61"/>
          <p:cNvSpPr/>
          <p:nvPr/>
        </p:nvSpPr>
        <p:spPr>
          <a:xfrm>
            <a:off x="502920" y="4956048"/>
            <a:ext cx="8138160" cy="201168"/>
          </a:xfrm>
          <a:prstGeom prst="rect">
            <a:avLst/>
          </a:prstGeom>
          <a:noFill/>
          <a:ln/>
        </p:spPr>
        <p:txBody>
          <a:bodyPr wrap="square" rtlCol="0" anchor="ctr"/>
          <a:lstStyle/>
          <a:p>
            <a:pPr marL="0" indent="0" algn="ctr">
              <a:buNone/>
            </a:pPr>
            <a:r>
              <a:rPr lang="en-US" sz="850" i="1" dirty="0">
                <a:solidFill>
                  <a:srgbClr val="8A9BAB"/>
                </a:solidFill>
                <a:latin typeface="Calibri" pitchFamily="34" charset="0"/>
                <a:ea typeface="Calibri" pitchFamily="34" charset="-122"/>
                <a:cs typeface="Calibri" pitchFamily="34" charset="-120"/>
              </a:rPr>
              <a:t>Stack   PySpark  ·  Apache Hudi  ·  Plotly  ·  ipywidgets  ·  Voilà  ·  JupyterLab     |     Domain Skills   ISO 20022  ·  Data Lakehouse architecture  ·  AML rule logic</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0"/>
            <a:ext cx="320040" cy="5143500"/>
          </a:xfrm>
          <a:prstGeom prst="rect">
            <a:avLst/>
          </a:prstGeom>
          <a:solidFill>
            <a:srgbClr val="006D6F"/>
          </a:solidFill>
          <a:ln w="12700">
            <a:solidFill>
              <a:srgbClr val="006D6F"/>
            </a:solidFill>
            <a:prstDash val="solid"/>
          </a:ln>
        </p:spPr>
      </p:sp>
      <p:sp>
        <p:nvSpPr>
          <p:cNvPr id="4" name="Text 2"/>
          <p:cNvSpPr/>
          <p:nvPr/>
        </p:nvSpPr>
        <p:spPr>
          <a:xfrm>
            <a:off x="502920" y="256032"/>
            <a:ext cx="3657600" cy="201168"/>
          </a:xfrm>
          <a:prstGeom prst="rect">
            <a:avLst/>
          </a:prstGeom>
          <a:noFill/>
          <a:ln/>
        </p:spPr>
        <p:txBody>
          <a:bodyPr wrap="square" rtlCol="0" anchor="ctr"/>
          <a:lstStyle/>
          <a:p>
            <a:pPr marL="0" indent="0">
              <a:buNone/>
            </a:pPr>
            <a:r>
              <a:rPr lang="en-US" sz="1200" b="1" kern="0" spc="200" dirty="0">
                <a:solidFill>
                  <a:srgbClr val="006D6F"/>
                </a:solidFill>
                <a:latin typeface="Calibri" pitchFamily="34" charset="0"/>
                <a:ea typeface="Calibri" pitchFamily="34" charset="-122"/>
                <a:cs typeface="Calibri" pitchFamily="34" charset="-120"/>
              </a:rPr>
              <a:t>THE JOURNEY</a:t>
            </a:r>
            <a:endParaRPr lang="en-US" sz="1200" dirty="0"/>
          </a:p>
        </p:txBody>
      </p:sp>
      <p:sp>
        <p:nvSpPr>
          <p:cNvPr id="5" name="Text 3"/>
          <p:cNvSpPr/>
          <p:nvPr/>
        </p:nvSpPr>
        <p:spPr>
          <a:xfrm>
            <a:off x="457200" y="530352"/>
            <a:ext cx="7772400" cy="777240"/>
          </a:xfrm>
          <a:prstGeom prst="rect">
            <a:avLst/>
          </a:prstGeom>
          <a:noFill/>
          <a:ln/>
        </p:spPr>
        <p:txBody>
          <a:bodyPr wrap="square" rtlCol="0" anchor="ctr"/>
          <a:lstStyle/>
          <a:p>
            <a:pPr marL="0" indent="0">
              <a:buNone/>
            </a:pPr>
            <a:r>
              <a:rPr lang="en-US" sz="2800" b="1" dirty="0">
                <a:solidFill>
                  <a:srgbClr val="1C2B3A"/>
                </a:solidFill>
                <a:latin typeface="Calibri" pitchFamily="34" charset="0"/>
                <a:ea typeface="Calibri" pitchFamily="34" charset="-122"/>
                <a:cs typeface="Calibri" pitchFamily="34" charset="-120"/>
              </a:rPr>
              <a:t>10 weeks. Sandbox Access. DLH Migration. 2 visuals. 15 rules.</a:t>
            </a:r>
            <a:endParaRPr lang="en-US" sz="2800" dirty="0"/>
          </a:p>
        </p:txBody>
      </p:sp>
      <p:sp>
        <p:nvSpPr>
          <p:cNvPr id="8" name="Text 6"/>
          <p:cNvSpPr/>
          <p:nvPr/>
        </p:nvSpPr>
        <p:spPr>
          <a:xfrm>
            <a:off x="914400" y="1383792"/>
            <a:ext cx="1097280" cy="256032"/>
          </a:xfrm>
          <a:prstGeom prst="rect">
            <a:avLst/>
          </a:prstGeom>
          <a:noFill/>
          <a:ln/>
        </p:spPr>
        <p:txBody>
          <a:bodyPr wrap="square" rtlCol="0" anchor="ctr"/>
          <a:lstStyle/>
          <a:p>
            <a:pPr marL="0" indent="0" algn="ctr">
              <a:buNone/>
            </a:pPr>
            <a:r>
              <a:rPr lang="en-US" sz="850" b="1" dirty="0">
                <a:solidFill>
                  <a:srgbClr val="8A9BAB"/>
                </a:solidFill>
                <a:latin typeface="Calibri" pitchFamily="34" charset="0"/>
                <a:ea typeface="Calibri" pitchFamily="34" charset="-122"/>
                <a:cs typeface="Calibri" pitchFamily="34" charset="-120"/>
              </a:rPr>
              <a:t>Wk 1–2</a:t>
            </a:r>
            <a:endParaRPr lang="en-US" sz="850" dirty="0"/>
          </a:p>
        </p:txBody>
      </p:sp>
      <p:sp>
        <p:nvSpPr>
          <p:cNvPr id="14" name="Text 12"/>
          <p:cNvSpPr/>
          <p:nvPr/>
        </p:nvSpPr>
        <p:spPr>
          <a:xfrm>
            <a:off x="2990088" y="1383792"/>
            <a:ext cx="1097280" cy="256032"/>
          </a:xfrm>
          <a:prstGeom prst="rect">
            <a:avLst/>
          </a:prstGeom>
          <a:noFill/>
          <a:ln/>
        </p:spPr>
        <p:txBody>
          <a:bodyPr wrap="square" rtlCol="0" anchor="ctr"/>
          <a:lstStyle/>
          <a:p>
            <a:pPr marL="0" indent="0" algn="ctr">
              <a:buNone/>
            </a:pPr>
            <a:r>
              <a:rPr lang="en-US" sz="850" b="1" dirty="0">
                <a:solidFill>
                  <a:srgbClr val="8A9BAB"/>
                </a:solidFill>
                <a:latin typeface="Calibri" pitchFamily="34" charset="0"/>
                <a:ea typeface="Calibri" pitchFamily="34" charset="-122"/>
                <a:cs typeface="Calibri" pitchFamily="34" charset="-120"/>
              </a:rPr>
              <a:t>Wk 3–4</a:t>
            </a:r>
            <a:endParaRPr lang="en-US" sz="850" dirty="0"/>
          </a:p>
        </p:txBody>
      </p:sp>
      <p:sp>
        <p:nvSpPr>
          <p:cNvPr id="20" name="Text 18"/>
          <p:cNvSpPr/>
          <p:nvPr/>
        </p:nvSpPr>
        <p:spPr>
          <a:xfrm>
            <a:off x="5056632" y="1383792"/>
            <a:ext cx="1097280" cy="256032"/>
          </a:xfrm>
          <a:prstGeom prst="rect">
            <a:avLst/>
          </a:prstGeom>
          <a:noFill/>
          <a:ln/>
        </p:spPr>
        <p:txBody>
          <a:bodyPr wrap="square" rtlCol="0" anchor="ctr"/>
          <a:lstStyle/>
          <a:p>
            <a:pPr marL="0" indent="0" algn="ctr">
              <a:buNone/>
            </a:pPr>
            <a:r>
              <a:rPr lang="en-US" sz="850" b="1" dirty="0">
                <a:solidFill>
                  <a:srgbClr val="8A9BAB"/>
                </a:solidFill>
                <a:latin typeface="Calibri" pitchFamily="34" charset="0"/>
                <a:ea typeface="Calibri" pitchFamily="34" charset="-122"/>
                <a:cs typeface="Calibri" pitchFamily="34" charset="-120"/>
              </a:rPr>
              <a:t>Wk 5–6</a:t>
            </a:r>
            <a:endParaRPr lang="en-US" sz="850" dirty="0"/>
          </a:p>
        </p:txBody>
      </p:sp>
      <p:grpSp>
        <p:nvGrpSpPr>
          <p:cNvPr id="34" name="Group 33">
            <a:extLst>
              <a:ext uri="{FF2B5EF4-FFF2-40B4-BE49-F238E27FC236}">
                <a16:creationId xmlns:a16="http://schemas.microsoft.com/office/drawing/2014/main" id="{C1CB0B6E-976F-73B7-1A0F-FB899330020C}"/>
              </a:ext>
            </a:extLst>
          </p:cNvPr>
          <p:cNvGrpSpPr/>
          <p:nvPr/>
        </p:nvGrpSpPr>
        <p:grpSpPr>
          <a:xfrm>
            <a:off x="576072" y="1659636"/>
            <a:ext cx="8138160" cy="292608"/>
            <a:chOff x="502920" y="1938528"/>
            <a:chExt cx="8138160" cy="292608"/>
          </a:xfrm>
        </p:grpSpPr>
        <p:sp>
          <p:nvSpPr>
            <p:cNvPr id="6" name="Shape 4"/>
            <p:cNvSpPr/>
            <p:nvPr/>
          </p:nvSpPr>
          <p:spPr>
            <a:xfrm>
              <a:off x="502920" y="2084832"/>
              <a:ext cx="8138160" cy="36576"/>
            </a:xfrm>
            <a:prstGeom prst="rect">
              <a:avLst/>
            </a:prstGeom>
            <a:solidFill>
              <a:srgbClr val="D0EAEB"/>
            </a:solidFill>
            <a:ln w="12700">
              <a:solidFill>
                <a:srgbClr val="D0EAEB"/>
              </a:solidFill>
              <a:prstDash val="solid"/>
            </a:ln>
          </p:spPr>
        </p:sp>
        <p:sp>
          <p:nvSpPr>
            <p:cNvPr id="7" name="Shape 5"/>
            <p:cNvSpPr/>
            <p:nvPr/>
          </p:nvSpPr>
          <p:spPr>
            <a:xfrm>
              <a:off x="1252728" y="1938528"/>
              <a:ext cx="292608" cy="292608"/>
            </a:xfrm>
            <a:prstGeom prst="ellipse">
              <a:avLst/>
            </a:prstGeom>
            <a:solidFill>
              <a:srgbClr val="006D6F"/>
            </a:solidFill>
            <a:ln w="25400">
              <a:solidFill>
                <a:srgbClr val="FFFFFF"/>
              </a:solidFill>
              <a:prstDash val="solid"/>
            </a:ln>
          </p:spPr>
        </p:sp>
        <p:sp>
          <p:nvSpPr>
            <p:cNvPr id="13" name="Shape 11"/>
            <p:cNvSpPr/>
            <p:nvPr/>
          </p:nvSpPr>
          <p:spPr>
            <a:xfrm>
              <a:off x="3328416" y="1938528"/>
              <a:ext cx="292608" cy="292608"/>
            </a:xfrm>
            <a:prstGeom prst="ellipse">
              <a:avLst/>
            </a:prstGeom>
            <a:solidFill>
              <a:srgbClr val="006D6F"/>
            </a:solidFill>
            <a:ln w="25400">
              <a:solidFill>
                <a:srgbClr val="FFFFFF"/>
              </a:solidFill>
              <a:prstDash val="solid"/>
            </a:ln>
          </p:spPr>
        </p:sp>
        <p:sp>
          <p:nvSpPr>
            <p:cNvPr id="19" name="Shape 17"/>
            <p:cNvSpPr/>
            <p:nvPr/>
          </p:nvSpPr>
          <p:spPr>
            <a:xfrm>
              <a:off x="5394960" y="1938528"/>
              <a:ext cx="292608" cy="292608"/>
            </a:xfrm>
            <a:prstGeom prst="ellipse">
              <a:avLst/>
            </a:prstGeom>
            <a:solidFill>
              <a:srgbClr val="C0392B"/>
            </a:solidFill>
            <a:ln w="25400">
              <a:solidFill>
                <a:srgbClr val="FFFFFF"/>
              </a:solidFill>
              <a:prstDash val="solid"/>
            </a:ln>
          </p:spPr>
        </p:sp>
        <p:sp>
          <p:nvSpPr>
            <p:cNvPr id="25" name="Shape 23"/>
            <p:cNvSpPr/>
            <p:nvPr/>
          </p:nvSpPr>
          <p:spPr>
            <a:xfrm>
              <a:off x="7470648" y="1938528"/>
              <a:ext cx="292608" cy="292608"/>
            </a:xfrm>
            <a:prstGeom prst="ellipse">
              <a:avLst/>
            </a:prstGeom>
            <a:solidFill>
              <a:srgbClr val="B7860B"/>
            </a:solidFill>
            <a:ln w="25400">
              <a:solidFill>
                <a:srgbClr val="FFFFFF"/>
              </a:solidFill>
              <a:prstDash val="solid"/>
            </a:ln>
          </p:spPr>
        </p:sp>
      </p:grpSp>
      <p:sp>
        <p:nvSpPr>
          <p:cNvPr id="26" name="Text 24"/>
          <p:cNvSpPr/>
          <p:nvPr/>
        </p:nvSpPr>
        <p:spPr>
          <a:xfrm>
            <a:off x="7132320" y="1383792"/>
            <a:ext cx="1097280" cy="256032"/>
          </a:xfrm>
          <a:prstGeom prst="rect">
            <a:avLst/>
          </a:prstGeom>
          <a:noFill/>
          <a:ln/>
        </p:spPr>
        <p:txBody>
          <a:bodyPr wrap="square" rtlCol="0" anchor="ctr"/>
          <a:lstStyle/>
          <a:p>
            <a:pPr marL="0" indent="0" algn="ctr">
              <a:buNone/>
            </a:pPr>
            <a:r>
              <a:rPr lang="en-US" sz="850" b="1" dirty="0">
                <a:solidFill>
                  <a:srgbClr val="8A9BAB"/>
                </a:solidFill>
                <a:latin typeface="Calibri" pitchFamily="34" charset="0"/>
                <a:ea typeface="Calibri" pitchFamily="34" charset="-122"/>
                <a:cs typeface="Calibri" pitchFamily="34" charset="-120"/>
              </a:rPr>
              <a:t>Wk 7–8</a:t>
            </a:r>
            <a:endParaRPr lang="en-US" sz="850" dirty="0"/>
          </a:p>
        </p:txBody>
      </p:sp>
      <p:grpSp>
        <p:nvGrpSpPr>
          <p:cNvPr id="36" name="Group 35">
            <a:extLst>
              <a:ext uri="{FF2B5EF4-FFF2-40B4-BE49-F238E27FC236}">
                <a16:creationId xmlns:a16="http://schemas.microsoft.com/office/drawing/2014/main" id="{66E542B1-D9E0-B17A-2F87-09091AFF41A4}"/>
              </a:ext>
            </a:extLst>
          </p:cNvPr>
          <p:cNvGrpSpPr/>
          <p:nvPr/>
        </p:nvGrpSpPr>
        <p:grpSpPr>
          <a:xfrm>
            <a:off x="591312" y="2027682"/>
            <a:ext cx="8183880" cy="2084832"/>
            <a:chOff x="502920" y="2395728"/>
            <a:chExt cx="8183880" cy="2084832"/>
          </a:xfrm>
        </p:grpSpPr>
        <p:sp>
          <p:nvSpPr>
            <p:cNvPr id="9" name="Shape 7"/>
            <p:cNvSpPr/>
            <p:nvPr/>
          </p:nvSpPr>
          <p:spPr>
            <a:xfrm>
              <a:off x="502920" y="2395728"/>
              <a:ext cx="1965960" cy="2084832"/>
            </a:xfrm>
            <a:prstGeom prst="roundRect">
              <a:avLst>
                <a:gd name="adj" fmla="val 3721"/>
              </a:avLst>
            </a:prstGeom>
            <a:solidFill>
              <a:srgbClr val="FFFFFF"/>
            </a:solidFill>
            <a:ln w="12700">
              <a:solidFill>
                <a:srgbClr val="D8E4E8"/>
              </a:solidFill>
              <a:prstDash val="solid"/>
            </a:ln>
          </p:spPr>
        </p:sp>
        <p:sp>
          <p:nvSpPr>
            <p:cNvPr id="10" name="Shape 8"/>
            <p:cNvSpPr/>
            <p:nvPr/>
          </p:nvSpPr>
          <p:spPr>
            <a:xfrm>
              <a:off x="502920" y="2395728"/>
              <a:ext cx="1965960" cy="45720"/>
            </a:xfrm>
            <a:prstGeom prst="rect">
              <a:avLst/>
            </a:prstGeom>
            <a:solidFill>
              <a:srgbClr val="006D6F"/>
            </a:solidFill>
            <a:ln w="12700">
              <a:solidFill>
                <a:srgbClr val="006D6F"/>
              </a:solidFill>
              <a:prstDash val="solid"/>
            </a:ln>
          </p:spPr>
        </p:sp>
        <p:sp>
          <p:nvSpPr>
            <p:cNvPr id="11" name="Text 9"/>
            <p:cNvSpPr/>
            <p:nvPr/>
          </p:nvSpPr>
          <p:spPr>
            <a:xfrm>
              <a:off x="640080" y="2514600"/>
              <a:ext cx="1719072" cy="347472"/>
            </a:xfrm>
            <a:prstGeom prst="rect">
              <a:avLst/>
            </a:prstGeom>
            <a:noFill/>
            <a:ln/>
          </p:spPr>
          <p:txBody>
            <a:bodyPr wrap="square" rtlCol="0" anchor="ctr"/>
            <a:lstStyle/>
            <a:p>
              <a:pPr marL="0" indent="0">
                <a:buNone/>
              </a:pPr>
              <a:r>
                <a:rPr lang="en-US" sz="1150" b="1" dirty="0">
                  <a:solidFill>
                    <a:srgbClr val="1C2B3A"/>
                  </a:solidFill>
                  <a:latin typeface="Calibri" pitchFamily="34" charset="0"/>
                  <a:ea typeface="Calibri" pitchFamily="34" charset="-122"/>
                  <a:cs typeface="Calibri" pitchFamily="34" charset="-120"/>
                </a:rPr>
                <a:t>Data Exploration</a:t>
              </a:r>
              <a:endParaRPr lang="en-US" sz="1150" dirty="0"/>
            </a:p>
          </p:txBody>
        </p:sp>
        <p:sp>
          <p:nvSpPr>
            <p:cNvPr id="12" name="Text 10"/>
            <p:cNvSpPr/>
            <p:nvPr/>
          </p:nvSpPr>
          <p:spPr>
            <a:xfrm>
              <a:off x="640080" y="2907792"/>
              <a:ext cx="1719072" cy="1298448"/>
            </a:xfrm>
            <a:prstGeom prst="rect">
              <a:avLst/>
            </a:prstGeom>
            <a:noFill/>
            <a:ln/>
          </p:spPr>
          <p:txBody>
            <a:bodyPr wrap="square" rtlCol="0" anchor="ctr"/>
            <a:lstStyle/>
            <a:p>
              <a:pPr marL="0" indent="0">
                <a:lnSpc>
                  <a:spcPct val="140000"/>
                </a:lnSpc>
                <a:buNone/>
              </a:pPr>
              <a:r>
                <a:rPr lang="en-US" sz="1000" dirty="0">
                  <a:solidFill>
                    <a:srgbClr val="4A6272"/>
                  </a:solidFill>
                  <a:latin typeface="Calibri" pitchFamily="34" charset="0"/>
                  <a:ea typeface="Calibri" pitchFamily="34" charset="-122"/>
                  <a:cs typeface="Calibri" pitchFamily="34" charset="-120"/>
                </a:rPr>
                <a:t>Schema discovery</a:t>
              </a:r>
              <a:endParaRPr lang="en-US" sz="1000" dirty="0"/>
            </a:p>
            <a:p>
              <a:pPr marL="0" indent="0">
                <a:lnSpc>
                  <a:spcPct val="140000"/>
                </a:lnSpc>
                <a:buNone/>
              </a:pPr>
              <a:r>
                <a:rPr lang="en-US" sz="1000" dirty="0">
                  <a:solidFill>
                    <a:srgbClr val="4A6272"/>
                  </a:solidFill>
                  <a:latin typeface="Calibri" pitchFamily="34" charset="0"/>
                  <a:ea typeface="Calibri" pitchFamily="34" charset="-122"/>
                  <a:cs typeface="Calibri" pitchFamily="34" charset="-120"/>
                </a:rPr>
                <a:t>SparkSession setup</a:t>
              </a:r>
              <a:endParaRPr lang="en-US" sz="1000" dirty="0"/>
            </a:p>
            <a:p>
              <a:pPr marL="0" indent="0">
                <a:lnSpc>
                  <a:spcPct val="140000"/>
                </a:lnSpc>
                <a:buNone/>
              </a:pPr>
              <a:r>
                <a:rPr lang="en-US" sz="1000" dirty="0">
                  <a:solidFill>
                    <a:srgbClr val="4A6272"/>
                  </a:solidFill>
                  <a:latin typeface="Calibri" pitchFamily="34" charset="0"/>
                  <a:ea typeface="Calibri" pitchFamily="34" charset="-122"/>
                  <a:cs typeface="Calibri" pitchFamily="34" charset="-120"/>
                </a:rPr>
                <a:t>Hudi integration</a:t>
              </a:r>
              <a:endParaRPr lang="en-US" sz="1000" dirty="0"/>
            </a:p>
          </p:txBody>
        </p:sp>
        <p:sp>
          <p:nvSpPr>
            <p:cNvPr id="15" name="Shape 13"/>
            <p:cNvSpPr/>
            <p:nvPr/>
          </p:nvSpPr>
          <p:spPr>
            <a:xfrm>
              <a:off x="2578608" y="2395728"/>
              <a:ext cx="1965960" cy="2084832"/>
            </a:xfrm>
            <a:prstGeom prst="roundRect">
              <a:avLst>
                <a:gd name="adj" fmla="val 3721"/>
              </a:avLst>
            </a:prstGeom>
            <a:solidFill>
              <a:srgbClr val="FFFFFF"/>
            </a:solidFill>
            <a:ln w="12700">
              <a:solidFill>
                <a:srgbClr val="D8E4E8"/>
              </a:solidFill>
              <a:prstDash val="solid"/>
            </a:ln>
          </p:spPr>
        </p:sp>
        <p:sp>
          <p:nvSpPr>
            <p:cNvPr id="16" name="Shape 14"/>
            <p:cNvSpPr/>
            <p:nvPr/>
          </p:nvSpPr>
          <p:spPr>
            <a:xfrm>
              <a:off x="2578608" y="2395728"/>
              <a:ext cx="1965960" cy="45720"/>
            </a:xfrm>
            <a:prstGeom prst="rect">
              <a:avLst/>
            </a:prstGeom>
            <a:solidFill>
              <a:srgbClr val="006D6F"/>
            </a:solidFill>
            <a:ln w="12700">
              <a:solidFill>
                <a:srgbClr val="006D6F"/>
              </a:solidFill>
              <a:prstDash val="solid"/>
            </a:ln>
          </p:spPr>
        </p:sp>
        <p:sp>
          <p:nvSpPr>
            <p:cNvPr id="17" name="Text 15"/>
            <p:cNvSpPr/>
            <p:nvPr/>
          </p:nvSpPr>
          <p:spPr>
            <a:xfrm>
              <a:off x="2715768" y="2514600"/>
              <a:ext cx="1719072" cy="347472"/>
            </a:xfrm>
            <a:prstGeom prst="rect">
              <a:avLst/>
            </a:prstGeom>
            <a:noFill/>
            <a:ln/>
          </p:spPr>
          <p:txBody>
            <a:bodyPr wrap="square" rtlCol="0" anchor="ctr"/>
            <a:lstStyle/>
            <a:p>
              <a:pPr marL="0" indent="0">
                <a:buNone/>
              </a:pPr>
              <a:r>
                <a:rPr lang="en-US" sz="1150" b="1" dirty="0">
                  <a:solidFill>
                    <a:srgbClr val="1C2B3A"/>
                  </a:solidFill>
                  <a:latin typeface="Calibri" pitchFamily="34" charset="0"/>
                  <a:ea typeface="Calibri" pitchFamily="34" charset="-122"/>
                  <a:cs typeface="Calibri" pitchFamily="34" charset="-120"/>
                </a:rPr>
                <a:t>Phase 1 Rules</a:t>
              </a:r>
              <a:endParaRPr lang="en-US" sz="1150" dirty="0"/>
            </a:p>
          </p:txBody>
        </p:sp>
        <p:sp>
          <p:nvSpPr>
            <p:cNvPr id="18" name="Text 16"/>
            <p:cNvSpPr/>
            <p:nvPr/>
          </p:nvSpPr>
          <p:spPr>
            <a:xfrm>
              <a:off x="2715768" y="2907792"/>
              <a:ext cx="1719072" cy="1298448"/>
            </a:xfrm>
            <a:prstGeom prst="rect">
              <a:avLst/>
            </a:prstGeom>
            <a:noFill/>
            <a:ln/>
          </p:spPr>
          <p:txBody>
            <a:bodyPr wrap="square" rtlCol="0" anchor="ctr"/>
            <a:lstStyle/>
            <a:p>
              <a:pPr marL="0" indent="0">
                <a:lnSpc>
                  <a:spcPct val="140000"/>
                </a:lnSpc>
                <a:buNone/>
              </a:pPr>
              <a:r>
                <a:rPr lang="en-US" sz="1000" dirty="0">
                  <a:solidFill>
                    <a:srgbClr val="4A6272"/>
                  </a:solidFill>
                  <a:latin typeface="Calibri" pitchFamily="34" charset="0"/>
                  <a:ea typeface="Calibri" pitchFamily="34" charset="-122"/>
                  <a:cs typeface="Calibri" pitchFamily="34" charset="-120"/>
                </a:rPr>
                <a:t>6 core rules</a:t>
              </a:r>
              <a:endParaRPr lang="en-US" sz="1000" dirty="0"/>
            </a:p>
            <a:p>
              <a:pPr marL="0" indent="0">
                <a:lnSpc>
                  <a:spcPct val="140000"/>
                </a:lnSpc>
                <a:buNone/>
              </a:pPr>
              <a:r>
                <a:rPr lang="en-US" sz="1000" dirty="0">
                  <a:solidFill>
                    <a:srgbClr val="4A6272"/>
                  </a:solidFill>
                  <a:latin typeface="Calibri" pitchFamily="34" charset="0"/>
                  <a:ea typeface="Calibri" pitchFamily="34" charset="-122"/>
                  <a:cs typeface="Calibri" pitchFamily="34" charset="-120"/>
                </a:rPr>
                <a:t>implemented</a:t>
              </a:r>
              <a:endParaRPr lang="en-US" sz="1000" dirty="0"/>
            </a:p>
            <a:p>
              <a:pPr marL="0" indent="0">
                <a:lnSpc>
                  <a:spcPct val="140000"/>
                </a:lnSpc>
                <a:buNone/>
              </a:pPr>
              <a:r>
                <a:rPr lang="en-US" sz="1000" dirty="0">
                  <a:solidFill>
                    <a:srgbClr val="4A6272"/>
                  </a:solidFill>
                  <a:latin typeface="Calibri" pitchFamily="34" charset="0"/>
                  <a:ea typeface="Calibri" pitchFamily="34" charset="-122"/>
                  <a:cs typeface="Calibri" pitchFamily="34" charset="-120"/>
                </a:rPr>
                <a:t>and validated</a:t>
              </a:r>
              <a:endParaRPr lang="en-US" sz="1000" dirty="0"/>
            </a:p>
          </p:txBody>
        </p:sp>
        <p:sp>
          <p:nvSpPr>
            <p:cNvPr id="21" name="Shape 19"/>
            <p:cNvSpPr/>
            <p:nvPr/>
          </p:nvSpPr>
          <p:spPr>
            <a:xfrm>
              <a:off x="4645152" y="2395728"/>
              <a:ext cx="1965960" cy="2084832"/>
            </a:xfrm>
            <a:prstGeom prst="roundRect">
              <a:avLst>
                <a:gd name="adj" fmla="val 3721"/>
              </a:avLst>
            </a:prstGeom>
            <a:solidFill>
              <a:srgbClr val="FFFFFF"/>
            </a:solidFill>
            <a:ln w="12700">
              <a:solidFill>
                <a:srgbClr val="D8E4E8"/>
              </a:solidFill>
              <a:prstDash val="solid"/>
            </a:ln>
          </p:spPr>
        </p:sp>
        <p:sp>
          <p:nvSpPr>
            <p:cNvPr id="22" name="Shape 20"/>
            <p:cNvSpPr/>
            <p:nvPr/>
          </p:nvSpPr>
          <p:spPr>
            <a:xfrm>
              <a:off x="4645152" y="2395728"/>
              <a:ext cx="1965960" cy="45720"/>
            </a:xfrm>
            <a:prstGeom prst="rect">
              <a:avLst/>
            </a:prstGeom>
            <a:solidFill>
              <a:srgbClr val="C0392B"/>
            </a:solidFill>
            <a:ln w="12700">
              <a:solidFill>
                <a:srgbClr val="C0392B"/>
              </a:solidFill>
              <a:prstDash val="solid"/>
            </a:ln>
          </p:spPr>
        </p:sp>
        <p:sp>
          <p:nvSpPr>
            <p:cNvPr id="23" name="Text 21"/>
            <p:cNvSpPr/>
            <p:nvPr/>
          </p:nvSpPr>
          <p:spPr>
            <a:xfrm>
              <a:off x="4782312" y="2514600"/>
              <a:ext cx="1719072" cy="347472"/>
            </a:xfrm>
            <a:prstGeom prst="rect">
              <a:avLst/>
            </a:prstGeom>
            <a:noFill/>
            <a:ln/>
          </p:spPr>
          <p:txBody>
            <a:bodyPr wrap="square" rtlCol="0" anchor="ctr"/>
            <a:lstStyle/>
            <a:p>
              <a:pPr marL="0" indent="0">
                <a:buNone/>
              </a:pPr>
              <a:r>
                <a:rPr lang="en-US" sz="1150" b="1" dirty="0">
                  <a:solidFill>
                    <a:srgbClr val="1C2B3A"/>
                  </a:solidFill>
                  <a:latin typeface="Calibri" pitchFamily="34" charset="0"/>
                  <a:ea typeface="Calibri" pitchFamily="34" charset="-122"/>
                  <a:cs typeface="Calibri" pitchFamily="34" charset="-120"/>
                </a:rPr>
                <a:t>DLH Migration</a:t>
              </a:r>
              <a:endParaRPr lang="en-US" sz="1150" dirty="0"/>
            </a:p>
          </p:txBody>
        </p:sp>
        <p:sp>
          <p:nvSpPr>
            <p:cNvPr id="24" name="Text 22"/>
            <p:cNvSpPr/>
            <p:nvPr/>
          </p:nvSpPr>
          <p:spPr>
            <a:xfrm>
              <a:off x="4782312" y="2907792"/>
              <a:ext cx="1719072" cy="1298448"/>
            </a:xfrm>
            <a:prstGeom prst="rect">
              <a:avLst/>
            </a:prstGeom>
            <a:noFill/>
            <a:ln/>
          </p:spPr>
          <p:txBody>
            <a:bodyPr wrap="square" rtlCol="0" anchor="ctr"/>
            <a:lstStyle/>
            <a:p>
              <a:pPr marL="0" indent="0">
                <a:lnSpc>
                  <a:spcPct val="140000"/>
                </a:lnSpc>
                <a:buNone/>
              </a:pPr>
              <a:r>
                <a:rPr lang="en-US" sz="1000" dirty="0">
                  <a:solidFill>
                    <a:srgbClr val="4A6272"/>
                  </a:solidFill>
                  <a:latin typeface="Calibri" pitchFamily="34" charset="0"/>
                  <a:ea typeface="Calibri" pitchFamily="34" charset="-122"/>
                  <a:cs typeface="Calibri" pitchFamily="34" charset="-120"/>
                </a:rPr>
                <a:t>2 schema changes</a:t>
              </a:r>
              <a:endParaRPr lang="en-US" sz="1000" dirty="0"/>
            </a:p>
            <a:p>
              <a:pPr marL="0" indent="0">
                <a:lnSpc>
                  <a:spcPct val="140000"/>
                </a:lnSpc>
                <a:buNone/>
              </a:pPr>
              <a:r>
                <a:rPr lang="en-US" sz="1000" dirty="0">
                  <a:solidFill>
                    <a:srgbClr val="4A6272"/>
                  </a:solidFill>
                  <a:latin typeface="Calibri" pitchFamily="34" charset="0"/>
                  <a:ea typeface="Calibri" pitchFamily="34" charset="-122"/>
                  <a:cs typeface="Calibri" pitchFamily="34" charset="-120"/>
                </a:rPr>
                <a:t>Evaluation table</a:t>
              </a:r>
              <a:endParaRPr lang="en-US" sz="1000" dirty="0"/>
            </a:p>
            <a:p>
              <a:pPr marL="0" indent="0">
                <a:lnSpc>
                  <a:spcPct val="140000"/>
                </a:lnSpc>
                <a:buNone/>
              </a:pPr>
              <a:r>
                <a:rPr lang="en-US" sz="1000" dirty="0">
                  <a:solidFill>
                    <a:srgbClr val="4A6272"/>
                  </a:solidFill>
                  <a:latin typeface="Calibri" pitchFamily="34" charset="0"/>
                  <a:ea typeface="Calibri" pitchFamily="34" charset="-122"/>
                  <a:cs typeface="Calibri" pitchFamily="34" charset="-120"/>
                </a:rPr>
                <a:t>integrated</a:t>
              </a:r>
              <a:endParaRPr lang="en-US" sz="1000" dirty="0"/>
            </a:p>
          </p:txBody>
        </p:sp>
        <p:sp>
          <p:nvSpPr>
            <p:cNvPr id="27" name="Shape 25"/>
            <p:cNvSpPr/>
            <p:nvPr/>
          </p:nvSpPr>
          <p:spPr>
            <a:xfrm>
              <a:off x="6720840" y="2395728"/>
              <a:ext cx="1965960" cy="2084832"/>
            </a:xfrm>
            <a:prstGeom prst="roundRect">
              <a:avLst>
                <a:gd name="adj" fmla="val 3721"/>
              </a:avLst>
            </a:prstGeom>
            <a:solidFill>
              <a:srgbClr val="FFFFFF"/>
            </a:solidFill>
            <a:ln w="12700">
              <a:solidFill>
                <a:srgbClr val="D8E4E8"/>
              </a:solidFill>
              <a:prstDash val="solid"/>
            </a:ln>
          </p:spPr>
        </p:sp>
        <p:sp>
          <p:nvSpPr>
            <p:cNvPr id="28" name="Shape 26"/>
            <p:cNvSpPr/>
            <p:nvPr/>
          </p:nvSpPr>
          <p:spPr>
            <a:xfrm>
              <a:off x="6720840" y="2395728"/>
              <a:ext cx="1965960" cy="45720"/>
            </a:xfrm>
            <a:prstGeom prst="rect">
              <a:avLst/>
            </a:prstGeom>
            <a:solidFill>
              <a:srgbClr val="B7860B"/>
            </a:solidFill>
            <a:ln w="12700">
              <a:solidFill>
                <a:srgbClr val="B7860B"/>
              </a:solidFill>
              <a:prstDash val="solid"/>
            </a:ln>
          </p:spPr>
        </p:sp>
        <p:sp>
          <p:nvSpPr>
            <p:cNvPr id="29" name="Text 27"/>
            <p:cNvSpPr/>
            <p:nvPr/>
          </p:nvSpPr>
          <p:spPr>
            <a:xfrm>
              <a:off x="6858000" y="2514600"/>
              <a:ext cx="1719072" cy="347472"/>
            </a:xfrm>
            <a:prstGeom prst="rect">
              <a:avLst/>
            </a:prstGeom>
            <a:noFill/>
            <a:ln/>
          </p:spPr>
          <p:txBody>
            <a:bodyPr wrap="square" rtlCol="0" anchor="ctr"/>
            <a:lstStyle/>
            <a:p>
              <a:pPr marL="0" indent="0">
                <a:buNone/>
              </a:pPr>
              <a:r>
                <a:rPr lang="en-US" sz="1150" b="1" dirty="0">
                  <a:solidFill>
                    <a:srgbClr val="1C2B3A"/>
                  </a:solidFill>
                  <a:latin typeface="Calibri" pitchFamily="34" charset="0"/>
                  <a:ea typeface="Calibri" pitchFamily="34" charset="-122"/>
                  <a:cs typeface="Calibri" pitchFamily="34" charset="-120"/>
                </a:rPr>
                <a:t>Phase 2 Rules</a:t>
              </a:r>
              <a:endParaRPr lang="en-US" sz="1150" dirty="0"/>
            </a:p>
          </p:txBody>
        </p:sp>
        <p:sp>
          <p:nvSpPr>
            <p:cNvPr id="30" name="Text 28"/>
            <p:cNvSpPr/>
            <p:nvPr/>
          </p:nvSpPr>
          <p:spPr>
            <a:xfrm>
              <a:off x="6858000" y="2907792"/>
              <a:ext cx="1719072" cy="1298448"/>
            </a:xfrm>
            <a:prstGeom prst="rect">
              <a:avLst/>
            </a:prstGeom>
            <a:noFill/>
            <a:ln/>
          </p:spPr>
          <p:txBody>
            <a:bodyPr wrap="square" rtlCol="0" anchor="ctr"/>
            <a:lstStyle/>
            <a:p>
              <a:pPr marL="0" indent="0">
                <a:lnSpc>
                  <a:spcPct val="140000"/>
                </a:lnSpc>
                <a:buNone/>
              </a:pPr>
              <a:r>
                <a:rPr lang="en-US" sz="1000" dirty="0">
                  <a:solidFill>
                    <a:srgbClr val="4A6272"/>
                  </a:solidFill>
                  <a:latin typeface="Calibri" pitchFamily="34" charset="0"/>
                  <a:ea typeface="Calibri" pitchFamily="34" charset="-122"/>
                  <a:cs typeface="Calibri" pitchFamily="34" charset="-120"/>
                </a:rPr>
                <a:t>9 additional rules</a:t>
              </a:r>
              <a:endParaRPr lang="en-US" sz="1000" dirty="0"/>
            </a:p>
            <a:p>
              <a:pPr marL="0" indent="0">
                <a:lnSpc>
                  <a:spcPct val="140000"/>
                </a:lnSpc>
                <a:buNone/>
              </a:pPr>
              <a:r>
                <a:rPr lang="en-US" sz="1000" dirty="0">
                  <a:solidFill>
                    <a:srgbClr val="4A6272"/>
                  </a:solidFill>
                  <a:latin typeface="Calibri" pitchFamily="34" charset="0"/>
                  <a:ea typeface="Calibri" pitchFamily="34" charset="-122"/>
                  <a:cs typeface="Calibri" pitchFamily="34" charset="-120"/>
                </a:rPr>
                <a:t>validated and</a:t>
              </a:r>
              <a:endParaRPr lang="en-US" sz="1000" dirty="0"/>
            </a:p>
            <a:p>
              <a:pPr marL="0" indent="0">
                <a:lnSpc>
                  <a:spcPct val="140000"/>
                </a:lnSpc>
                <a:buNone/>
              </a:pPr>
              <a:r>
                <a:rPr lang="en-US" sz="1000" dirty="0">
                  <a:solidFill>
                    <a:srgbClr val="4A6272"/>
                  </a:solidFill>
                  <a:latin typeface="Calibri" pitchFamily="34" charset="0"/>
                  <a:ea typeface="Calibri" pitchFamily="34" charset="-122"/>
                  <a:cs typeface="Calibri" pitchFamily="34" charset="-120"/>
                </a:rPr>
                <a:t>merged</a:t>
              </a:r>
              <a:endParaRPr lang="en-US" sz="1000" dirty="0"/>
            </a:p>
          </p:txBody>
        </p:sp>
      </p:grpSp>
      <p:sp>
        <p:nvSpPr>
          <p:cNvPr id="31" name="Shape 29"/>
          <p:cNvSpPr/>
          <p:nvPr/>
        </p:nvSpPr>
        <p:spPr>
          <a:xfrm>
            <a:off x="563880" y="4321683"/>
            <a:ext cx="8138160" cy="13716"/>
          </a:xfrm>
          <a:prstGeom prst="rect">
            <a:avLst/>
          </a:prstGeom>
          <a:solidFill>
            <a:srgbClr val="D8E4E8"/>
          </a:solidFill>
          <a:ln w="12700">
            <a:solidFill>
              <a:srgbClr val="D8E4E8"/>
            </a:solidFill>
            <a:prstDash val="solid"/>
          </a:ln>
        </p:spPr>
      </p:sp>
      <p:sp>
        <p:nvSpPr>
          <p:cNvPr id="32" name="Text 30"/>
          <p:cNvSpPr/>
          <p:nvPr/>
        </p:nvSpPr>
        <p:spPr>
          <a:xfrm>
            <a:off x="487680" y="4403598"/>
            <a:ext cx="5029200" cy="256032"/>
          </a:xfrm>
          <a:prstGeom prst="rect">
            <a:avLst/>
          </a:prstGeom>
          <a:noFill/>
          <a:ln/>
        </p:spPr>
        <p:txBody>
          <a:bodyPr wrap="square" rtlCol="0" anchor="ctr"/>
          <a:lstStyle/>
          <a:p>
            <a:pPr marL="0" indent="0">
              <a:buNone/>
            </a:pPr>
            <a:r>
              <a:rPr lang="en-US" sz="900" b="1" dirty="0" err="1">
                <a:solidFill>
                  <a:schemeClr val="tx1">
                    <a:lumMod val="65000"/>
                    <a:lumOff val="35000"/>
                  </a:schemeClr>
                </a:solidFill>
                <a:latin typeface="Calibri" pitchFamily="34" charset="0"/>
                <a:ea typeface="Calibri" pitchFamily="34" charset="-122"/>
                <a:cs typeface="Calibri" pitchFamily="34" charset="-120"/>
              </a:rPr>
              <a:t>Wk</a:t>
            </a:r>
            <a:r>
              <a:rPr lang="en-US" sz="900" b="1" dirty="0">
                <a:solidFill>
                  <a:schemeClr val="tx1">
                    <a:lumMod val="65000"/>
                    <a:lumOff val="35000"/>
                  </a:schemeClr>
                </a:solidFill>
                <a:latin typeface="Calibri" pitchFamily="34" charset="0"/>
                <a:ea typeface="Calibri" pitchFamily="34" charset="-122"/>
                <a:cs typeface="Calibri" pitchFamily="34" charset="-120"/>
              </a:rPr>
              <a:t> 9–12  ·  End to End  testing  ·  UI polish  ·  Documentation  ·  GitHub push  ·  Fellowship wrap-up</a:t>
            </a:r>
            <a:endParaRPr lang="en-US" sz="900" b="1" dirty="0">
              <a:solidFill>
                <a:schemeClr val="tx1">
                  <a:lumMod val="65000"/>
                  <a:lumOff val="35000"/>
                </a:schemeClr>
              </a:solidFill>
            </a:endParaRPr>
          </a:p>
        </p:txBody>
      </p:sp>
      <p:sp>
        <p:nvSpPr>
          <p:cNvPr id="33" name="Text 31"/>
          <p:cNvSpPr/>
          <p:nvPr/>
        </p:nvSpPr>
        <p:spPr>
          <a:xfrm>
            <a:off x="5655564" y="4509135"/>
            <a:ext cx="3017520" cy="347472"/>
          </a:xfrm>
          <a:prstGeom prst="rect">
            <a:avLst/>
          </a:prstGeom>
          <a:noFill/>
          <a:ln/>
        </p:spPr>
        <p:txBody>
          <a:bodyPr wrap="square" rtlCol="0" anchor="ctr"/>
          <a:lstStyle/>
          <a:p>
            <a:pPr marL="0" indent="0">
              <a:buNone/>
            </a:pPr>
            <a:r>
              <a:rPr lang="en-US" sz="900" i="1" dirty="0">
                <a:solidFill>
                  <a:srgbClr val="006D6F"/>
                </a:solidFill>
                <a:latin typeface="Calibri" pitchFamily="34" charset="0"/>
                <a:ea typeface="Calibri" pitchFamily="34" charset="-122"/>
                <a:cs typeface="Calibri" pitchFamily="34" charset="-120"/>
              </a:rPr>
              <a:t>"Fraud detection without explainability is a black box. We built the window."</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1441</TotalTime>
  <Words>1311</Words>
  <Application>Microsoft Office PowerPoint</Application>
  <PresentationFormat>On-screen Show (16:9)</PresentationFormat>
  <Paragraphs>180</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Tazama Rule Trigger Discovery</dc:title>
  <dc:subject>PptxGenJS Presentation</dc:subject>
  <dc:creator>PptxGenJS</dc:creator>
  <cp:lastModifiedBy>Shikha Pamnani</cp:lastModifiedBy>
  <cp:revision>28</cp:revision>
  <dcterms:created xsi:type="dcterms:W3CDTF">2026-06-12T18:26:36Z</dcterms:created>
  <dcterms:modified xsi:type="dcterms:W3CDTF">2026-06-28T20:10:24Z</dcterms:modified>
</cp:coreProperties>
</file>